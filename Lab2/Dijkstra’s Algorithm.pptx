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8288000" cy="10287000"/>
  <p:notesSz cx="6858000" cy="9144000"/>
  <p:embeddedFontLst>
    <p:embeddedFont>
      <p:font typeface="Arimo" panose="020B0604020202020204" charset="0"/>
      <p:regular r:id="rId20"/>
    </p:embeddedFont>
    <p:embeddedFont>
      <p:font typeface="Arimo Bold" panose="020B0604020202020204" charset="0"/>
      <p:regular r:id="rId21"/>
    </p:embeddedFont>
    <p:embeddedFont>
      <p:font typeface="IBM Plex Mono" panose="020F0502020204030204" pitchFamily="49" charset="0"/>
      <p:regular r:id="rId22"/>
    </p:embeddedFont>
    <p:embeddedFont>
      <p:font typeface="Montserrat Bold" panose="020B0604020202020204" charset="0"/>
      <p:regular r:id="rId23"/>
    </p:embeddedFont>
    <p:embeddedFont>
      <p:font typeface="Open Sans" panose="020B0606030504020204" pitchFamily="34" charset="0"/>
      <p:regular r:id="rId24"/>
    </p:embeddedFont>
    <p:embeddedFont>
      <p:font typeface="Open Sans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37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0" y="0"/>
            <a:ext cx="8001000" cy="10287000"/>
          </a:xfrm>
          <a:custGeom>
            <a:avLst/>
            <a:gdLst/>
            <a:ahLst/>
            <a:cxnLst/>
            <a:rect l="l" t="t" r="r" b="b"/>
            <a:pathLst>
              <a:path w="8001000" h="10287000">
                <a:moveTo>
                  <a:pt x="0" y="0"/>
                </a:moveTo>
                <a:lnTo>
                  <a:pt x="8001000" y="0"/>
                </a:lnTo>
                <a:lnTo>
                  <a:pt x="8001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8" b="-98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1066800" y="1280848"/>
            <a:ext cx="809625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215">
                <a:solidFill>
                  <a:srgbClr val="18B7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SC2001  /  ALGORITHM DESIGN AND 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6800" y="2505075"/>
            <a:ext cx="10001250" cy="2265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20"/>
              </a:lnSpc>
            </a:pPr>
            <a:r>
              <a:rPr lang="en-US" sz="8400" b="1">
                <a:solidFill>
                  <a:srgbClr val="18B7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Dijkstra’s</a:t>
            </a:r>
          </a:p>
          <a:p>
            <a:pPr algn="l">
              <a:lnSpc>
                <a:spcPts val="8820"/>
              </a:lnSpc>
            </a:pPr>
            <a:r>
              <a:rPr lang="en-US" sz="8400" b="1">
                <a:solidFill>
                  <a:srgbClr val="18B7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Algorithm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4919662"/>
            <a:ext cx="819150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499" b="1">
                <a:solidFill>
                  <a:srgbClr val="9CE6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LAB 2 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6800" y="7098506"/>
            <a:ext cx="7620000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Gupta Dhruv </a:t>
            </a:r>
          </a:p>
          <a:p>
            <a:pPr algn="l">
              <a:lnSpc>
                <a:spcPts val="3374"/>
              </a:lnSpc>
            </a:pPr>
            <a:r>
              <a:rPr lang="en-US" sz="2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Gajulapalli Anish Reddy</a:t>
            </a:r>
          </a:p>
          <a:p>
            <a:pPr algn="l">
              <a:lnSpc>
                <a:spcPts val="3374"/>
              </a:lnSpc>
            </a:pPr>
            <a:r>
              <a:rPr lang="en-US" sz="2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Koh Jin En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6800" y="9705975"/>
            <a:ext cx="476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9CE6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SC2001  •  PROJECT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347927"/>
            <a:ext cx="16154400" cy="1591310"/>
            <a:chOff x="0" y="0"/>
            <a:chExt cx="21539200" cy="2121747"/>
          </a:xfrm>
        </p:grpSpPr>
        <p:sp>
          <p:nvSpPr>
            <p:cNvPr id="3" name="TextBox 3"/>
            <p:cNvSpPr txBox="1"/>
            <p:nvPr/>
          </p:nvSpPr>
          <p:spPr>
            <a:xfrm>
              <a:off x="0" y="-57150"/>
              <a:ext cx="1143000" cy="6650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69"/>
                </a:lnSpc>
              </a:pPr>
              <a:r>
                <a:rPr lang="en-US" sz="3049" b="1" spc="365">
                  <a:solidFill>
                    <a:srgbClr val="18B7A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892388"/>
              <a:ext cx="19050000" cy="927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49"/>
                </a:lnSpc>
              </a:pPr>
              <a:r>
                <a:rPr lang="en-US" sz="4999" b="1">
                  <a:solidFill>
                    <a:srgbClr val="102B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 question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2083647"/>
              <a:ext cx="21539200" cy="38100"/>
              <a:chOff x="0" y="0"/>
              <a:chExt cx="21539200" cy="381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39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1539200" h="38100">
                    <a:moveTo>
                      <a:pt x="0" y="0"/>
                    </a:moveTo>
                    <a:lnTo>
                      <a:pt x="21539200" y="0"/>
                    </a:lnTo>
                    <a:lnTo>
                      <a:pt x="2153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8B7A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66675"/>
                <a:ext cx="21539200" cy="1047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3639"/>
                  </a:lnSpc>
                </a:pPr>
                <a:endParaRPr/>
              </a:p>
            </p:txBody>
          </p:sp>
        </p:grpSp>
      </p:grpSp>
      <p:sp>
        <p:nvSpPr>
          <p:cNvPr id="8" name="Freeform 8"/>
          <p:cNvSpPr/>
          <p:nvPr/>
        </p:nvSpPr>
        <p:spPr>
          <a:xfrm>
            <a:off x="8771221" y="2476500"/>
            <a:ext cx="8129961" cy="6702261"/>
          </a:xfrm>
          <a:custGeom>
            <a:avLst/>
            <a:gdLst/>
            <a:ahLst/>
            <a:cxnLst/>
            <a:rect l="l" t="t" r="r" b="b"/>
            <a:pathLst>
              <a:path w="8129961" h="6702261">
                <a:moveTo>
                  <a:pt x="0" y="0"/>
                </a:moveTo>
                <a:lnTo>
                  <a:pt x="8129961" y="0"/>
                </a:lnTo>
                <a:lnTo>
                  <a:pt x="8129961" y="6702261"/>
                </a:lnTo>
                <a:lnTo>
                  <a:pt x="0" y="67022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1028700" y="2456974"/>
            <a:ext cx="6762750" cy="2686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6"/>
              </a:lnSpc>
            </a:pPr>
            <a:r>
              <a:rPr lang="en-US" sz="5025" b="1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Given one source.</a:t>
            </a:r>
          </a:p>
          <a:p>
            <a:pPr algn="l">
              <a:lnSpc>
                <a:spcPts val="5276"/>
              </a:lnSpc>
            </a:pPr>
            <a:r>
              <a:rPr lang="en-US" sz="5025" b="1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Find shortest distance to every other vertex.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5789530"/>
            <a:ext cx="6572250" cy="292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499">
                <a:solidFill>
                  <a:srgbClr val="102B3A"/>
                </a:solidFill>
                <a:latin typeface="Open Sans"/>
                <a:ea typeface="Open Sans"/>
                <a:cs typeface="Open Sans"/>
                <a:sym typeface="Open Sans"/>
              </a:rPr>
              <a:t>Dijkstra’s algorithm solves this for graphs with edge weights &gt;=0. </a:t>
            </a:r>
          </a:p>
          <a:p>
            <a:pPr algn="l">
              <a:lnSpc>
                <a:spcPts val="3374"/>
              </a:lnSpc>
            </a:pPr>
            <a:r>
              <a:rPr lang="en-US" sz="2499">
                <a:solidFill>
                  <a:srgbClr val="102B3A"/>
                </a:solidFill>
                <a:latin typeface="Open Sans"/>
                <a:ea typeface="Open Sans"/>
                <a:cs typeface="Open Sans"/>
                <a:sym typeface="Open Sans"/>
              </a:rPr>
              <a:t>However, its run time depends on how we store the graph information and select the next vertex to visit. </a:t>
            </a:r>
          </a:p>
          <a:p>
            <a:pPr algn="l">
              <a:lnSpc>
                <a:spcPts val="3374"/>
              </a:lnSpc>
            </a:pPr>
            <a:r>
              <a:rPr lang="en-US" sz="2499">
                <a:solidFill>
                  <a:srgbClr val="102B3A"/>
                </a:solidFill>
                <a:latin typeface="Open Sans"/>
                <a:ea typeface="Open Sans"/>
                <a:cs typeface="Open Sans"/>
                <a:sym typeface="Open Sans"/>
              </a:rPr>
              <a:t>We go over 2 of its implementations and compare them to each other.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6800" y="9705975"/>
            <a:ext cx="476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07B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SC2001  •  PROJECT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14350"/>
            <a:ext cx="16154400" cy="1171575"/>
            <a:chOff x="0" y="0"/>
            <a:chExt cx="21539200" cy="15621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98">
                  <a:solidFill>
                    <a:srgbClr val="18B7A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90550"/>
              <a:ext cx="19050000" cy="669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600" b="1">
                  <a:solidFill>
                    <a:srgbClr val="102B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Matrix + array  /  data structures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524000"/>
              <a:ext cx="21539200" cy="38100"/>
              <a:chOff x="0" y="0"/>
              <a:chExt cx="21539200" cy="381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39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1539200" h="38100">
                    <a:moveTo>
                      <a:pt x="0" y="0"/>
                    </a:moveTo>
                    <a:lnTo>
                      <a:pt x="21539200" y="0"/>
                    </a:lnTo>
                    <a:lnTo>
                      <a:pt x="2153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8B7A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539200" cy="76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sp>
        <p:nvSpPr>
          <p:cNvPr id="8" name="TextBox 8"/>
          <p:cNvSpPr txBox="1"/>
          <p:nvPr/>
        </p:nvSpPr>
        <p:spPr>
          <a:xfrm>
            <a:off x="715463" y="2398639"/>
            <a:ext cx="12358615" cy="57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4200" b="1">
                <a:solidFill>
                  <a:srgbClr val="18B7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V×V Adjacency matrix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5463" y="3057525"/>
            <a:ext cx="6932655" cy="1666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499">
                <a:solidFill>
                  <a:srgbClr val="102B3A"/>
                </a:solidFill>
                <a:latin typeface="Open Sans"/>
                <a:ea typeface="Open Sans"/>
                <a:cs typeface="Open Sans"/>
                <a:sym typeface="Open Sans"/>
              </a:rPr>
              <a:t>Each cell contains an edge weight representing distance between the 2 vertices, </a:t>
            </a:r>
          </a:p>
          <a:p>
            <a:pPr algn="l">
              <a:lnSpc>
                <a:spcPts val="3374"/>
              </a:lnSpc>
            </a:pPr>
            <a:r>
              <a:rPr lang="en-US" sz="2499">
                <a:solidFill>
                  <a:srgbClr val="102B3A"/>
                </a:solidFill>
                <a:latin typeface="Open Sans"/>
                <a:ea typeface="Open Sans"/>
                <a:cs typeface="Open Sans"/>
                <a:sym typeface="Open Sans"/>
              </a:rPr>
              <a:t>“None” means there is no edge, </a:t>
            </a:r>
          </a:p>
          <a:p>
            <a:pPr algn="l">
              <a:lnSpc>
                <a:spcPts val="3374"/>
              </a:lnSpc>
            </a:pPr>
            <a:r>
              <a:rPr lang="en-US" sz="2499">
                <a:solidFill>
                  <a:srgbClr val="102B3A"/>
                </a:solidFill>
                <a:latin typeface="Open Sans"/>
                <a:ea typeface="Open Sans"/>
                <a:cs typeface="Open Sans"/>
                <a:sym typeface="Open Sans"/>
              </a:rPr>
              <a:t>which allows “0” to remain a valid weight.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5463" y="5125006"/>
            <a:ext cx="3810000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4"/>
              </a:lnSpc>
            </a:pPr>
            <a:r>
              <a:rPr lang="en-US" sz="2374" b="1" spc="284">
                <a:solidFill>
                  <a:srgbClr val="18B7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Priority queue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5463" y="5621834"/>
            <a:ext cx="6191250" cy="343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2550" b="1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distances[]  +  visited[]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392297" y="2134681"/>
            <a:ext cx="9117035" cy="7599869"/>
            <a:chOff x="0" y="0"/>
            <a:chExt cx="11750567" cy="979515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750566" cy="9795154"/>
            </a:xfrm>
            <a:custGeom>
              <a:avLst/>
              <a:gdLst/>
              <a:ahLst/>
              <a:cxnLst/>
              <a:rect l="l" t="t" r="r" b="b"/>
              <a:pathLst>
                <a:path w="11750566" h="9795154">
                  <a:moveTo>
                    <a:pt x="0" y="0"/>
                  </a:moveTo>
                  <a:lnTo>
                    <a:pt x="11750566" y="0"/>
                  </a:lnTo>
                  <a:lnTo>
                    <a:pt x="11750566" y="9795154"/>
                  </a:lnTo>
                  <a:lnTo>
                    <a:pt x="0" y="9795154"/>
                  </a:lnTo>
                  <a:close/>
                </a:path>
              </a:pathLst>
            </a:custGeom>
            <a:solidFill>
              <a:srgbClr val="0D2A3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750567" cy="9833254"/>
            </a:xfrm>
            <a:prstGeom prst="rect">
              <a:avLst/>
            </a:prstGeom>
          </p:spPr>
          <p:txBody>
            <a:bodyPr lIns="52553" tIns="52553" rIns="52553" bIns="52553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665539" y="2629144"/>
            <a:ext cx="8570552" cy="3761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69"/>
              </a:lnSpc>
              <a:spcBef>
                <a:spcPct val="0"/>
              </a:spcBef>
            </a:pPr>
            <a:r>
              <a:rPr lang="en-US" sz="2051" u="none" strike="noStrike">
                <a:solidFill>
                  <a:srgbClr val="9CE6D9"/>
                </a:solidFill>
                <a:latin typeface="IBM Plex Mono"/>
                <a:ea typeface="IBM Plex Mono"/>
                <a:cs typeface="IBM Plex Mono"/>
                <a:sym typeface="IBM Plex Mono"/>
              </a:rPr>
              <a:t>def find_nearest_unvisited_vertex(distances, visited):</a:t>
            </a:r>
          </a:p>
          <a:p>
            <a:pPr marL="0" lvl="0" indent="0" algn="l">
              <a:lnSpc>
                <a:spcPts val="2769"/>
              </a:lnSpc>
              <a:spcBef>
                <a:spcPct val="0"/>
              </a:spcBef>
            </a:pPr>
            <a:r>
              <a:rPr lang="en-US" sz="2051" u="none" strike="noStrike">
                <a:solidFill>
                  <a:srgbClr val="9CE6D9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smallest_distance = INFINITY</a:t>
            </a:r>
          </a:p>
          <a:p>
            <a:pPr marL="0" lvl="0" indent="0" algn="l">
              <a:lnSpc>
                <a:spcPts val="2769"/>
              </a:lnSpc>
              <a:spcBef>
                <a:spcPct val="0"/>
              </a:spcBef>
            </a:pPr>
            <a:r>
              <a:rPr lang="en-US" sz="2051" u="none" strike="noStrike">
                <a:solidFill>
                  <a:srgbClr val="9CE6D9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nearest_vertex = -1</a:t>
            </a:r>
          </a:p>
          <a:p>
            <a:pPr marL="0" lvl="0" indent="0" algn="l">
              <a:lnSpc>
                <a:spcPts val="2769"/>
              </a:lnSpc>
              <a:spcBef>
                <a:spcPct val="0"/>
              </a:spcBef>
            </a:pPr>
            <a:endParaRPr lang="en-US" sz="2051" u="none" strike="noStrike">
              <a:solidFill>
                <a:srgbClr val="9CE6D9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marL="0" lvl="0" indent="0" algn="l">
              <a:lnSpc>
                <a:spcPts val="2769"/>
              </a:lnSpc>
              <a:spcBef>
                <a:spcPct val="0"/>
              </a:spcBef>
            </a:pPr>
            <a:r>
              <a:rPr lang="en-US" sz="2051" u="none" strike="noStrike">
                <a:solidFill>
                  <a:srgbClr val="9CE6D9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for vertex in range(len(distances)):</a:t>
            </a:r>
          </a:p>
          <a:p>
            <a:pPr marL="0" lvl="0" indent="0" algn="l">
              <a:lnSpc>
                <a:spcPts val="2769"/>
              </a:lnSpc>
              <a:spcBef>
                <a:spcPct val="0"/>
              </a:spcBef>
            </a:pPr>
            <a:r>
              <a:rPr lang="en-US" sz="2051" u="none" strike="noStrike">
                <a:solidFill>
                  <a:srgbClr val="9CE6D9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    if (not visited[vertex] and</a:t>
            </a:r>
          </a:p>
          <a:p>
            <a:pPr marL="0" lvl="0" indent="0" algn="l">
              <a:lnSpc>
                <a:spcPts val="2769"/>
              </a:lnSpc>
              <a:spcBef>
                <a:spcPct val="0"/>
              </a:spcBef>
            </a:pPr>
            <a:r>
              <a:rPr lang="en-US" sz="2051" u="none" strike="noStrike">
                <a:solidFill>
                  <a:srgbClr val="9CE6D9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            distances[vertex] &lt;smallest_distance):</a:t>
            </a:r>
          </a:p>
          <a:p>
            <a:pPr marL="0" lvl="0" indent="0" algn="l">
              <a:lnSpc>
                <a:spcPts val="2769"/>
              </a:lnSpc>
              <a:spcBef>
                <a:spcPct val="0"/>
              </a:spcBef>
            </a:pPr>
            <a:r>
              <a:rPr lang="en-US" sz="2051" u="none" strike="noStrike">
                <a:solidFill>
                  <a:srgbClr val="9CE6D9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        smallest_distance = distances[vertex]</a:t>
            </a:r>
          </a:p>
          <a:p>
            <a:pPr marL="0" lvl="0" indent="0" algn="l">
              <a:lnSpc>
                <a:spcPts val="2769"/>
              </a:lnSpc>
              <a:spcBef>
                <a:spcPct val="0"/>
              </a:spcBef>
            </a:pPr>
            <a:r>
              <a:rPr lang="en-US" sz="2051" u="none" strike="noStrike">
                <a:solidFill>
                  <a:srgbClr val="9CE6D9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        nearest_vertex = vertex</a:t>
            </a:r>
          </a:p>
          <a:p>
            <a:pPr marL="0" lvl="0" indent="0" algn="l">
              <a:lnSpc>
                <a:spcPts val="2769"/>
              </a:lnSpc>
              <a:spcBef>
                <a:spcPct val="0"/>
              </a:spcBef>
            </a:pPr>
            <a:endParaRPr lang="en-US" sz="2051" u="none" strike="noStrike">
              <a:solidFill>
                <a:srgbClr val="9CE6D9"/>
              </a:solidFill>
              <a:latin typeface="IBM Plex Mono"/>
              <a:ea typeface="IBM Plex Mono"/>
              <a:cs typeface="IBM Plex Mono"/>
              <a:sym typeface="IBM Plex Mono"/>
            </a:endParaRPr>
          </a:p>
          <a:p>
            <a:pPr marL="0" lvl="0" indent="0" algn="l">
              <a:lnSpc>
                <a:spcPts val="2769"/>
              </a:lnSpc>
              <a:spcBef>
                <a:spcPct val="0"/>
              </a:spcBef>
            </a:pPr>
            <a:r>
              <a:rPr lang="en-US" sz="2051" u="none" strike="noStrike">
                <a:solidFill>
                  <a:srgbClr val="9CE6D9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return nearest_vertex    # O(V) scan every call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6800" y="9705975"/>
            <a:ext cx="476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07B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SC2001  •  PROJECT 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5463" y="5979914"/>
            <a:ext cx="7485648" cy="376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374"/>
              </a:lnSpc>
              <a:buAutoNum type="arabicPeriod"/>
            </a:pPr>
            <a:r>
              <a:rPr lang="en-US" sz="2499">
                <a:solidFill>
                  <a:srgbClr val="102B3A"/>
                </a:solidFill>
                <a:latin typeface="Open Sans"/>
                <a:ea typeface="Open Sans"/>
                <a:cs typeface="Open Sans"/>
                <a:sym typeface="Open Sans"/>
              </a:rPr>
              <a:t>distances: which stores the best known distances upto the current vertex. Starts by taking INFINITY distance to every node.</a:t>
            </a:r>
          </a:p>
          <a:p>
            <a:pPr marL="539749" lvl="1" indent="-269875" algn="l">
              <a:lnSpc>
                <a:spcPts val="3374"/>
              </a:lnSpc>
              <a:buAutoNum type="arabicPeriod"/>
            </a:pPr>
            <a:r>
              <a:rPr lang="en-US" sz="2499">
                <a:solidFill>
                  <a:srgbClr val="102B3A"/>
                </a:solidFill>
                <a:latin typeface="Open Sans"/>
                <a:ea typeface="Open Sans"/>
                <a:cs typeface="Open Sans"/>
                <a:sym typeface="Open Sans"/>
              </a:rPr>
              <a:t>visited: which tracks vertices already visited.</a:t>
            </a:r>
          </a:p>
          <a:p>
            <a:pPr algn="l">
              <a:lnSpc>
                <a:spcPts val="3374"/>
              </a:lnSpc>
            </a:pPr>
            <a:endParaRPr lang="en-US" sz="2499">
              <a:solidFill>
                <a:srgbClr val="102B3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374"/>
              </a:lnSpc>
            </a:pPr>
            <a:r>
              <a:rPr lang="en-US" sz="2499">
                <a:solidFill>
                  <a:srgbClr val="102B3A"/>
                </a:solidFill>
                <a:latin typeface="Open Sans"/>
                <a:ea typeface="Open Sans"/>
                <a:cs typeface="Open Sans"/>
                <a:sym typeface="Open Sans"/>
              </a:rPr>
              <a:t>To go to the next nearest unvisited vertex, </a:t>
            </a:r>
          </a:p>
          <a:p>
            <a:pPr algn="l">
              <a:lnSpc>
                <a:spcPts val="3374"/>
              </a:lnSpc>
            </a:pPr>
            <a:r>
              <a:rPr lang="en-US" sz="2499">
                <a:solidFill>
                  <a:srgbClr val="102B3A"/>
                </a:solidFill>
                <a:latin typeface="Open Sans"/>
                <a:ea typeface="Open Sans"/>
                <a:cs typeface="Open Sans"/>
                <a:sym typeface="Open Sans"/>
              </a:rPr>
              <a:t>we scan the entire distances array. </a:t>
            </a:r>
          </a:p>
          <a:p>
            <a:pPr algn="l">
              <a:lnSpc>
                <a:spcPts val="3374"/>
              </a:lnSpc>
            </a:pPr>
            <a:r>
              <a:rPr lang="en-US" sz="2499">
                <a:solidFill>
                  <a:srgbClr val="102B3A"/>
                </a:solidFill>
                <a:latin typeface="Open Sans"/>
                <a:ea typeface="Open Sans"/>
                <a:cs typeface="Open Sans"/>
                <a:sym typeface="Open Sans"/>
              </a:rPr>
              <a:t>Each selection therefore takes O(V) time.</a:t>
            </a:r>
          </a:p>
          <a:p>
            <a:pPr algn="l">
              <a:lnSpc>
                <a:spcPts val="3374"/>
              </a:lnSpc>
            </a:pPr>
            <a:endParaRPr lang="en-US" sz="2499">
              <a:solidFill>
                <a:srgbClr val="102B3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14350"/>
            <a:ext cx="16154400" cy="1171575"/>
            <a:chOff x="0" y="0"/>
            <a:chExt cx="21539200" cy="15621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98">
                  <a:solidFill>
                    <a:srgbClr val="18B7A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90550"/>
              <a:ext cx="19050000" cy="669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600" b="1">
                  <a:solidFill>
                    <a:srgbClr val="102B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Matrix + array  /  the main loop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524000"/>
              <a:ext cx="21539200" cy="38100"/>
              <a:chOff x="0" y="0"/>
              <a:chExt cx="21539200" cy="381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39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1539200" h="38100">
                    <a:moveTo>
                      <a:pt x="0" y="0"/>
                    </a:moveTo>
                    <a:lnTo>
                      <a:pt x="21539200" y="0"/>
                    </a:lnTo>
                    <a:lnTo>
                      <a:pt x="2153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8B7A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539200" cy="76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7739449" y="2284713"/>
            <a:ext cx="9336619" cy="6787515"/>
            <a:chOff x="0" y="0"/>
            <a:chExt cx="12448825" cy="905002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2448825" cy="9050020"/>
              <a:chOff x="0" y="0"/>
              <a:chExt cx="12448825" cy="905002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2448825" cy="9050020"/>
              </a:xfrm>
              <a:custGeom>
                <a:avLst/>
                <a:gdLst/>
                <a:ahLst/>
                <a:cxnLst/>
                <a:rect l="l" t="t" r="r" b="b"/>
                <a:pathLst>
                  <a:path w="12448825" h="9050020">
                    <a:moveTo>
                      <a:pt x="0" y="0"/>
                    </a:moveTo>
                    <a:lnTo>
                      <a:pt x="12448825" y="0"/>
                    </a:lnTo>
                    <a:lnTo>
                      <a:pt x="12448825" y="9050020"/>
                    </a:lnTo>
                    <a:lnTo>
                      <a:pt x="0" y="9050020"/>
                    </a:lnTo>
                    <a:close/>
                  </a:path>
                </a:pathLst>
              </a:custGeom>
              <a:solidFill>
                <a:srgbClr val="0D2A3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2448825" cy="90881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77911" y="336550"/>
              <a:ext cx="11693004" cy="49574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26"/>
                </a:lnSpc>
                <a:spcBef>
                  <a:spcPct val="0"/>
                </a:spcBef>
              </a:pPr>
              <a:r>
                <a:rPr lang="en-US" sz="1575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for step in range(number_of_vertices):</a:t>
              </a:r>
            </a:p>
            <a:p>
              <a:pPr marL="0" lvl="0" indent="0" algn="l">
                <a:lnSpc>
                  <a:spcPts val="2126"/>
                </a:lnSpc>
                <a:spcBef>
                  <a:spcPct val="0"/>
                </a:spcBef>
              </a:pPr>
              <a:r>
                <a:rPr lang="en-US" sz="1575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current_vertex = find_nearest_unvisited_vertex(distances, visited)</a:t>
              </a:r>
            </a:p>
            <a:p>
              <a:pPr marL="0" lvl="0" indent="0" algn="l">
                <a:lnSpc>
                  <a:spcPts val="2126"/>
                </a:lnSpc>
                <a:spcBef>
                  <a:spcPct val="0"/>
                </a:spcBef>
              </a:pPr>
              <a:r>
                <a:rPr lang="en-US" sz="1575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if current_vertex == -1:</a:t>
              </a:r>
            </a:p>
            <a:p>
              <a:pPr marL="0" lvl="0" indent="0" algn="l">
                <a:lnSpc>
                  <a:spcPts val="2126"/>
                </a:lnSpc>
                <a:spcBef>
                  <a:spcPct val="0"/>
                </a:spcBef>
              </a:pPr>
              <a:r>
                <a:rPr lang="en-US" sz="1575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break                       # rest are unreachable</a:t>
              </a:r>
            </a:p>
            <a:p>
              <a:pPr marL="0" lvl="0" indent="0" algn="l">
                <a:lnSpc>
                  <a:spcPts val="2126"/>
                </a:lnSpc>
                <a:spcBef>
                  <a:spcPct val="0"/>
                </a:spcBef>
              </a:pPr>
              <a:r>
                <a:rPr lang="en-US" sz="1575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visited[current_vertex] = True</a:t>
              </a:r>
            </a:p>
            <a:p>
              <a:pPr marL="0" lvl="0" indent="0" algn="l">
                <a:lnSpc>
                  <a:spcPts val="2126"/>
                </a:lnSpc>
                <a:spcBef>
                  <a:spcPct val="0"/>
                </a:spcBef>
              </a:pPr>
              <a:endParaRPr lang="en-US" sz="1575" u="none" strike="noStrike">
                <a:solidFill>
                  <a:srgbClr val="9CE6D9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marL="0" lvl="0" indent="0" algn="l">
                <a:lnSpc>
                  <a:spcPts val="2126"/>
                </a:lnSpc>
                <a:spcBef>
                  <a:spcPct val="0"/>
                </a:spcBef>
              </a:pPr>
              <a:r>
                <a:rPr lang="en-US" sz="1575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for neighbour in range(number_of_vertices):    # whole row: O(V)</a:t>
              </a:r>
            </a:p>
            <a:p>
              <a:pPr marL="0" lvl="0" indent="0" algn="l">
                <a:lnSpc>
                  <a:spcPts val="2126"/>
                </a:lnSpc>
                <a:spcBef>
                  <a:spcPct val="0"/>
                </a:spcBef>
              </a:pPr>
              <a:r>
                <a:rPr lang="en-US" sz="1575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edge_weight = adjacency_matrix[current_vertex][neighbour]</a:t>
              </a:r>
            </a:p>
            <a:p>
              <a:pPr marL="0" lvl="0" indent="0" algn="l">
                <a:lnSpc>
                  <a:spcPts val="2126"/>
                </a:lnSpc>
                <a:spcBef>
                  <a:spcPct val="0"/>
                </a:spcBef>
              </a:pPr>
              <a:r>
                <a:rPr lang="en-US" sz="1575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if edge_weight is None or visited[neighbour]:</a:t>
              </a:r>
            </a:p>
            <a:p>
              <a:pPr marL="0" lvl="0" indent="0" algn="l">
                <a:lnSpc>
                  <a:spcPts val="2126"/>
                </a:lnSpc>
                <a:spcBef>
                  <a:spcPct val="0"/>
                </a:spcBef>
              </a:pPr>
              <a:r>
                <a:rPr lang="en-US" sz="1575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    continue</a:t>
              </a:r>
            </a:p>
            <a:p>
              <a:pPr marL="0" lvl="0" indent="0" algn="l">
                <a:lnSpc>
                  <a:spcPts val="2126"/>
                </a:lnSpc>
                <a:spcBef>
                  <a:spcPct val="0"/>
                </a:spcBef>
              </a:pPr>
              <a:r>
                <a:rPr lang="en-US" sz="1575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new_distance = distances[current_vertex] + edge_weight</a:t>
              </a:r>
            </a:p>
            <a:p>
              <a:pPr marL="0" lvl="0" indent="0" algn="l">
                <a:lnSpc>
                  <a:spcPts val="2126"/>
                </a:lnSpc>
                <a:spcBef>
                  <a:spcPct val="0"/>
                </a:spcBef>
              </a:pPr>
              <a:r>
                <a:rPr lang="en-US" sz="1575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if new_distance &lt; distances[neighbour]:</a:t>
              </a:r>
            </a:p>
            <a:p>
              <a:pPr marL="0" lvl="0" indent="0" algn="l">
                <a:lnSpc>
                  <a:spcPts val="2126"/>
                </a:lnSpc>
                <a:spcBef>
                  <a:spcPct val="0"/>
                </a:spcBef>
              </a:pPr>
              <a:r>
                <a:rPr lang="en-US" sz="1575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    distances[neighbour] = new_distance     # O(1) update</a:t>
              </a:r>
            </a:p>
            <a:p>
              <a:pPr marL="0" lvl="0" indent="0" algn="l">
                <a:lnSpc>
                  <a:spcPts val="2126"/>
                </a:lnSpc>
                <a:spcBef>
                  <a:spcPct val="0"/>
                </a:spcBef>
              </a:pPr>
              <a:r>
                <a:rPr lang="en-US" sz="1575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    previous[neighbour] = current_vertex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66800" y="9705975"/>
            <a:ext cx="476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07B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SC2001  •  PROJECT 2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28700" y="2284713"/>
            <a:ext cx="6048519" cy="6551823"/>
            <a:chOff x="0" y="0"/>
            <a:chExt cx="8064693" cy="8735764"/>
          </a:xfrm>
        </p:grpSpPr>
        <p:sp>
          <p:nvSpPr>
            <p:cNvPr id="15" name="TextBox 15"/>
            <p:cNvSpPr txBox="1"/>
            <p:nvPr/>
          </p:nvSpPr>
          <p:spPr>
            <a:xfrm>
              <a:off x="0" y="38100"/>
              <a:ext cx="8064693" cy="1320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4"/>
                </a:lnSpc>
              </a:pPr>
              <a:r>
                <a:rPr lang="en-US" sz="2499" b="1">
                  <a:solidFill>
                    <a:srgbClr val="102B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Each iteration selects the nearest unvisited vertex and marks it as visited.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3249364"/>
              <a:ext cx="7038933" cy="4445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102B3A"/>
                  </a:solidFill>
                  <a:latin typeface="Open Sans"/>
                  <a:ea typeface="Open Sans"/>
                  <a:cs typeface="Open Sans"/>
                  <a:sym typeface="Open Sans"/>
                </a:rPr>
                <a:t>In each iteration, we scan the current node’s entire matrix row to find neighbours. </a:t>
              </a:r>
            </a:p>
            <a:p>
              <a:pPr algn="l">
                <a:lnSpc>
                  <a:spcPts val="3374"/>
                </a:lnSpc>
              </a:pPr>
              <a:r>
                <a:rPr lang="en-US" sz="2499">
                  <a:solidFill>
                    <a:srgbClr val="102B3A"/>
                  </a:solidFill>
                  <a:latin typeface="Open Sans"/>
                  <a:ea typeface="Open Sans"/>
                  <a:cs typeface="Open Sans"/>
                  <a:sym typeface="Open Sans"/>
                </a:rPr>
                <a:t>For each unvisited neighbour, we check whether travelling through the current vertex gives a shorter distance. If it does, we update the distance and the parent node.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0" y="8557022"/>
              <a:ext cx="7837659" cy="178742"/>
              <a:chOff x="0" y="0"/>
              <a:chExt cx="7837659" cy="17874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7837660" cy="178742"/>
              </a:xfrm>
              <a:custGeom>
                <a:avLst/>
                <a:gdLst/>
                <a:ahLst/>
                <a:cxnLst/>
                <a:rect l="l" t="t" r="r" b="b"/>
                <a:pathLst>
                  <a:path w="7837660" h="178742">
                    <a:moveTo>
                      <a:pt x="0" y="0"/>
                    </a:moveTo>
                    <a:lnTo>
                      <a:pt x="7837660" y="0"/>
                    </a:lnTo>
                    <a:lnTo>
                      <a:pt x="7837660" y="178742"/>
                    </a:lnTo>
                    <a:lnTo>
                      <a:pt x="0" y="178742"/>
                    </a:lnTo>
                    <a:close/>
                  </a:path>
                </a:pathLst>
              </a:custGeom>
              <a:solidFill>
                <a:srgbClr val="18B7A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7837659" cy="2168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0" y="2221408"/>
              <a:ext cx="7837659" cy="177055"/>
              <a:chOff x="0" y="0"/>
              <a:chExt cx="7837659" cy="17705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837660" cy="177055"/>
              </a:xfrm>
              <a:custGeom>
                <a:avLst/>
                <a:gdLst/>
                <a:ahLst/>
                <a:cxnLst/>
                <a:rect l="l" t="t" r="r" b="b"/>
                <a:pathLst>
                  <a:path w="7837660" h="177055">
                    <a:moveTo>
                      <a:pt x="0" y="0"/>
                    </a:moveTo>
                    <a:lnTo>
                      <a:pt x="7837660" y="0"/>
                    </a:lnTo>
                    <a:lnTo>
                      <a:pt x="7837660" y="177055"/>
                    </a:lnTo>
                    <a:lnTo>
                      <a:pt x="0" y="177055"/>
                    </a:lnTo>
                    <a:close/>
                  </a:path>
                </a:pathLst>
              </a:custGeom>
              <a:solidFill>
                <a:srgbClr val="18B7A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7837659" cy="2151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14350"/>
            <a:ext cx="16154400" cy="1171575"/>
            <a:chOff x="0" y="0"/>
            <a:chExt cx="21539200" cy="15621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98">
                  <a:solidFill>
                    <a:srgbClr val="18B7A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90550"/>
              <a:ext cx="19050000" cy="669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6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Matrix + array  /  complexity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524000"/>
              <a:ext cx="21539200" cy="38100"/>
              <a:chOff x="0" y="0"/>
              <a:chExt cx="21539200" cy="381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39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1539200" h="38100">
                    <a:moveTo>
                      <a:pt x="0" y="0"/>
                    </a:moveTo>
                    <a:lnTo>
                      <a:pt x="21539200" y="0"/>
                    </a:lnTo>
                    <a:lnTo>
                      <a:pt x="2153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8B7A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539200" cy="76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sp>
        <p:nvSpPr>
          <p:cNvPr id="8" name="TextBox 8"/>
          <p:cNvSpPr txBox="1"/>
          <p:nvPr/>
        </p:nvSpPr>
        <p:spPr>
          <a:xfrm>
            <a:off x="5829300" y="2326399"/>
            <a:ext cx="10858500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sz="3999" b="1">
                <a:solidFill>
                  <a:srgbClr val="18B7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Work per Iteration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66800" y="9705975"/>
            <a:ext cx="476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9CE6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SC2001  •  PROJECT 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6800" y="2488083"/>
            <a:ext cx="7152818" cy="33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 spc="3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There are at most V iterations.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 spc="3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Each performs an O(V) minimum selection, and an O(V) row scan.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 spc="3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Multiplying these gives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 spc="3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O(V^2) overall.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 spc="3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adjacency matrix also requires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 spc="32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O(V^2) space.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31644" y="3256370"/>
            <a:ext cx="10303496" cy="1471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b="1" spc="33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Choosing nearest unvisited vertex: </a:t>
            </a:r>
            <a:r>
              <a:rPr lang="en-US" sz="2800" b="1" spc="336">
                <a:solidFill>
                  <a:srgbClr val="18B7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O(V)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b="1" spc="33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Scan its matrix row: </a:t>
            </a:r>
            <a:r>
              <a:rPr lang="en-US" sz="2800" b="1" spc="336">
                <a:solidFill>
                  <a:srgbClr val="18B7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O(V)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b="1" spc="336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per iteration: </a:t>
            </a:r>
            <a:r>
              <a:rPr lang="en-US" sz="2800" b="1" spc="336">
                <a:solidFill>
                  <a:srgbClr val="18B7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[O(V) + O(V)]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31644" y="5113745"/>
            <a:ext cx="844998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spc="36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 most </a:t>
            </a:r>
            <a:r>
              <a:rPr lang="en-US" sz="3000" b="1" spc="360">
                <a:solidFill>
                  <a:srgbClr val="18B7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</a:t>
            </a:r>
            <a:r>
              <a:rPr lang="en-US" sz="3000" b="1" spc="36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iterations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000250" y="6747904"/>
            <a:ext cx="14287500" cy="1457325"/>
            <a:chOff x="0" y="0"/>
            <a:chExt cx="19050000" cy="194310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954405"/>
              <a:ext cx="19050000" cy="9886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564"/>
                </a:lnSpc>
              </a:pPr>
              <a:r>
                <a:rPr lang="en-US" sz="5299" b="1">
                  <a:solidFill>
                    <a:srgbClr val="18B7A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 × [O(V) + O(V)] = O(V²)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67425" y="-66675"/>
              <a:ext cx="14478000" cy="9353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04"/>
                </a:lnSpc>
              </a:pPr>
              <a:r>
                <a:rPr lang="en-US" sz="4299" b="1">
                  <a:solidFill>
                    <a:srgbClr val="18B7A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Therefore, total runtime: 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14350"/>
            <a:ext cx="16154400" cy="1171575"/>
            <a:chOff x="0" y="0"/>
            <a:chExt cx="21539200" cy="15621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98">
                  <a:solidFill>
                    <a:srgbClr val="18B7A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05A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90550"/>
              <a:ext cx="19050000" cy="669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600" b="1">
                  <a:solidFill>
                    <a:srgbClr val="102B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Matrix + array  /  empirical results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524000"/>
              <a:ext cx="21539200" cy="38100"/>
              <a:chOff x="0" y="0"/>
              <a:chExt cx="21539200" cy="381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39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1539200" h="38100">
                    <a:moveTo>
                      <a:pt x="0" y="0"/>
                    </a:moveTo>
                    <a:lnTo>
                      <a:pt x="21539200" y="0"/>
                    </a:lnTo>
                    <a:lnTo>
                      <a:pt x="2153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8B7A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539200" cy="76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492" y="1498069"/>
            <a:ext cx="9468245" cy="7761904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14937500" y="2754553"/>
            <a:ext cx="3516923" cy="928033"/>
            <a:chOff x="0" y="0"/>
            <a:chExt cx="4689231" cy="1237378"/>
          </a:xfrm>
        </p:grpSpPr>
        <p:sp>
          <p:nvSpPr>
            <p:cNvPr id="10" name="TextBox 10"/>
            <p:cNvSpPr txBox="1"/>
            <p:nvPr/>
          </p:nvSpPr>
          <p:spPr>
            <a:xfrm>
              <a:off x="0" y="66675"/>
              <a:ext cx="4689231" cy="7490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40"/>
                </a:lnSpc>
              </a:pPr>
              <a:r>
                <a:rPr lang="en-US" sz="4038" b="1">
                  <a:solidFill>
                    <a:srgbClr val="18B7A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≈ 5 × 10⁻⁸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523" y="915726"/>
              <a:ext cx="3907692" cy="321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19"/>
                </a:lnSpc>
              </a:pPr>
              <a:r>
                <a:rPr lang="en-US" sz="1442" b="1" spc="173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Time / V²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66800" y="9705975"/>
            <a:ext cx="476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07B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SC2001  •  PROJECT 2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4937500" y="5991160"/>
            <a:ext cx="3506895" cy="1312545"/>
            <a:chOff x="0" y="0"/>
            <a:chExt cx="4675860" cy="175006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66675"/>
              <a:ext cx="4675860" cy="447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 b="1">
                  <a:solidFill>
                    <a:srgbClr val="18B7A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FIXED V = 500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504825"/>
              <a:ext cx="3637927" cy="1245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 b="1">
                  <a:solidFill>
                    <a:srgbClr val="102B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90× edges→</a:t>
              </a:r>
            </a:p>
            <a:p>
              <a:pPr algn="l">
                <a:lnSpc>
                  <a:spcPts val="3779"/>
                </a:lnSpc>
              </a:pPr>
              <a:r>
                <a:rPr lang="en-US" sz="2700" b="1">
                  <a:solidFill>
                    <a:srgbClr val="102B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only 1.37× time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 rot="-5400000">
            <a:off x="10795267" y="653415"/>
            <a:ext cx="2438843" cy="5217928"/>
            <a:chOff x="0" y="0"/>
            <a:chExt cx="3251791" cy="695723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251791" cy="6957237"/>
            </a:xfrm>
            <a:custGeom>
              <a:avLst/>
              <a:gdLst/>
              <a:ahLst/>
              <a:cxnLst/>
              <a:rect l="l" t="t" r="r" b="b"/>
              <a:pathLst>
                <a:path w="3251791" h="6957237">
                  <a:moveTo>
                    <a:pt x="95233" y="0"/>
                  </a:moveTo>
                  <a:lnTo>
                    <a:pt x="3156558" y="0"/>
                  </a:lnTo>
                  <a:cubicBezTo>
                    <a:pt x="3181815" y="0"/>
                    <a:pt x="3206038" y="10033"/>
                    <a:pt x="3223898" y="27893"/>
                  </a:cubicBezTo>
                  <a:cubicBezTo>
                    <a:pt x="3241757" y="45753"/>
                    <a:pt x="3251791" y="69975"/>
                    <a:pt x="3251791" y="95233"/>
                  </a:cubicBezTo>
                  <a:lnTo>
                    <a:pt x="3251791" y="6862004"/>
                  </a:lnTo>
                  <a:cubicBezTo>
                    <a:pt x="3251791" y="6914600"/>
                    <a:pt x="3209154" y="6957237"/>
                    <a:pt x="3156558" y="6957237"/>
                  </a:cubicBezTo>
                  <a:lnTo>
                    <a:pt x="95233" y="6957237"/>
                  </a:lnTo>
                  <a:cubicBezTo>
                    <a:pt x="69975" y="6957237"/>
                    <a:pt x="45753" y="6947204"/>
                    <a:pt x="27893" y="6929344"/>
                  </a:cubicBezTo>
                  <a:cubicBezTo>
                    <a:pt x="10033" y="6911485"/>
                    <a:pt x="0" y="6887262"/>
                    <a:pt x="0" y="6862004"/>
                  </a:cubicBezTo>
                  <a:lnTo>
                    <a:pt x="0" y="95233"/>
                  </a:lnTo>
                  <a:cubicBezTo>
                    <a:pt x="0" y="69975"/>
                    <a:pt x="10033" y="45753"/>
                    <a:pt x="27893" y="27893"/>
                  </a:cubicBezTo>
                  <a:cubicBezTo>
                    <a:pt x="45753" y="10033"/>
                    <a:pt x="69975" y="0"/>
                    <a:pt x="95233" y="0"/>
                  </a:cubicBezTo>
                  <a:close/>
                </a:path>
              </a:pathLst>
            </a:custGeom>
            <a:solidFill>
              <a:srgbClr val="18B7A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251791" cy="69953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559522" y="2156532"/>
            <a:ext cx="4836417" cy="208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499">
                <a:solidFill>
                  <a:srgbClr val="102B3A"/>
                </a:solidFill>
                <a:latin typeface="Open Sans"/>
                <a:ea typeface="Open Sans"/>
                <a:cs typeface="Open Sans"/>
                <a:sym typeface="Open Sans"/>
              </a:rPr>
              <a:t>Our tests support quadratic growth. </a:t>
            </a:r>
          </a:p>
          <a:p>
            <a:pPr algn="l">
              <a:lnSpc>
                <a:spcPts val="3374"/>
              </a:lnSpc>
            </a:pPr>
            <a:r>
              <a:rPr lang="en-US" sz="2499">
                <a:solidFill>
                  <a:srgbClr val="102B3A"/>
                </a:solidFill>
                <a:latin typeface="Open Sans"/>
                <a:ea typeface="Open Sans"/>
                <a:cs typeface="Open Sans"/>
                <a:sym typeface="Open Sans"/>
              </a:rPr>
              <a:t>As V increases, time by V squared stays close to five x 10^-8</a:t>
            </a:r>
          </a:p>
        </p:txBody>
      </p:sp>
      <p:grpSp>
        <p:nvGrpSpPr>
          <p:cNvPr id="20" name="Group 20"/>
          <p:cNvGrpSpPr/>
          <p:nvPr/>
        </p:nvGrpSpPr>
        <p:grpSpPr>
          <a:xfrm rot="-5400000">
            <a:off x="9748800" y="4564428"/>
            <a:ext cx="4531777" cy="5217928"/>
            <a:chOff x="0" y="0"/>
            <a:chExt cx="6042369" cy="695723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042369" cy="6957237"/>
            </a:xfrm>
            <a:custGeom>
              <a:avLst/>
              <a:gdLst/>
              <a:ahLst/>
              <a:cxnLst/>
              <a:rect l="l" t="t" r="r" b="b"/>
              <a:pathLst>
                <a:path w="6042369" h="6957237">
                  <a:moveTo>
                    <a:pt x="51251" y="0"/>
                  </a:moveTo>
                  <a:lnTo>
                    <a:pt x="5991118" y="0"/>
                  </a:lnTo>
                  <a:cubicBezTo>
                    <a:pt x="6019423" y="0"/>
                    <a:pt x="6042369" y="22946"/>
                    <a:pt x="6042369" y="51251"/>
                  </a:cubicBezTo>
                  <a:lnTo>
                    <a:pt x="6042369" y="6905986"/>
                  </a:lnTo>
                  <a:cubicBezTo>
                    <a:pt x="6042369" y="6934291"/>
                    <a:pt x="6019423" y="6957237"/>
                    <a:pt x="5991118" y="6957237"/>
                  </a:cubicBezTo>
                  <a:lnTo>
                    <a:pt x="51251" y="6957237"/>
                  </a:lnTo>
                  <a:cubicBezTo>
                    <a:pt x="37658" y="6957237"/>
                    <a:pt x="24622" y="6951838"/>
                    <a:pt x="15011" y="6942227"/>
                  </a:cubicBezTo>
                  <a:cubicBezTo>
                    <a:pt x="5400" y="6932615"/>
                    <a:pt x="0" y="6919579"/>
                    <a:pt x="0" y="6905986"/>
                  </a:cubicBezTo>
                  <a:lnTo>
                    <a:pt x="0" y="51251"/>
                  </a:lnTo>
                  <a:cubicBezTo>
                    <a:pt x="0" y="37658"/>
                    <a:pt x="5400" y="24622"/>
                    <a:pt x="15011" y="15011"/>
                  </a:cubicBezTo>
                  <a:cubicBezTo>
                    <a:pt x="24622" y="5400"/>
                    <a:pt x="37658" y="0"/>
                    <a:pt x="51251" y="0"/>
                  </a:cubicBezTo>
                  <a:close/>
                </a:path>
              </a:pathLst>
            </a:custGeom>
            <a:solidFill>
              <a:srgbClr val="18B7A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6042369" cy="69953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554208" y="4984368"/>
            <a:ext cx="4889162" cy="460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499">
                <a:solidFill>
                  <a:srgbClr val="102B3A"/>
                </a:solidFill>
                <a:latin typeface="Open Sans"/>
                <a:ea typeface="Open Sans"/>
                <a:cs typeface="Open Sans"/>
                <a:sym typeface="Open Sans"/>
              </a:rPr>
              <a:t>With V fixed at 500, increasing the number of edges by approximately 90 times increases runtime by only 1.37 times.</a:t>
            </a:r>
          </a:p>
          <a:p>
            <a:pPr algn="l">
              <a:lnSpc>
                <a:spcPts val="3374"/>
              </a:lnSpc>
            </a:pPr>
            <a:r>
              <a:rPr lang="en-US" sz="2499">
                <a:solidFill>
                  <a:srgbClr val="102B3A"/>
                </a:solidFill>
                <a:latin typeface="Open Sans"/>
                <a:ea typeface="Open Sans"/>
                <a:cs typeface="Open Sans"/>
                <a:sym typeface="Open Sans"/>
              </a:rPr>
              <a:t>This shows that vertex count dominates this implementation’s runtime, because it scans the full matrix regardless of how many edges exist.</a:t>
            </a:r>
          </a:p>
          <a:p>
            <a:pPr algn="l">
              <a:lnSpc>
                <a:spcPts val="3374"/>
              </a:lnSpc>
            </a:pPr>
            <a:endParaRPr lang="en-US" sz="2499">
              <a:solidFill>
                <a:srgbClr val="102B3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14350"/>
            <a:ext cx="16154400" cy="1171575"/>
            <a:chOff x="0" y="0"/>
            <a:chExt cx="21539200" cy="15621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98">
                  <a:solidFill>
                    <a:srgbClr val="18B7A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06B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90550"/>
              <a:ext cx="19050000" cy="669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600" b="1">
                  <a:solidFill>
                    <a:srgbClr val="102B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Lists + min-heap  /  data structures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524000"/>
              <a:ext cx="21539200" cy="38100"/>
              <a:chOff x="0" y="0"/>
              <a:chExt cx="21539200" cy="381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39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1539200" h="38100">
                    <a:moveTo>
                      <a:pt x="0" y="0"/>
                    </a:moveTo>
                    <a:lnTo>
                      <a:pt x="21539200" y="0"/>
                    </a:lnTo>
                    <a:lnTo>
                      <a:pt x="2153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8B7A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539200" cy="76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sp>
        <p:nvSpPr>
          <p:cNvPr id="8" name="TextBox 8"/>
          <p:cNvSpPr txBox="1"/>
          <p:nvPr/>
        </p:nvSpPr>
        <p:spPr>
          <a:xfrm>
            <a:off x="1066800" y="2438400"/>
            <a:ext cx="6191250" cy="509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750" b="1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adjacency_list[u]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66800" y="3057525"/>
            <a:ext cx="6191250" cy="34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02B3A"/>
                </a:solidFill>
                <a:latin typeface="Open Sans"/>
                <a:ea typeface="Open Sans"/>
                <a:cs typeface="Open Sans"/>
                <a:sym typeface="Open Sans"/>
              </a:rPr>
              <a:t>Stores only real (v, weight) pairs.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6800" y="4524375"/>
            <a:ext cx="6858000" cy="475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lang="en-US" sz="3450" b="1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Binary MinHeap + position[]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6800" y="5153025"/>
            <a:ext cx="6191250" cy="342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102B3A"/>
                </a:solidFill>
                <a:latin typeface="Open Sans"/>
                <a:ea typeface="Open Sans"/>
                <a:cs typeface="Open Sans"/>
                <a:sym typeface="Open Sans"/>
              </a:rPr>
              <a:t>position[v] gives v’s heap index in O(1).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953500" y="2333625"/>
            <a:ext cx="7905750" cy="3314700"/>
            <a:chOff x="0" y="0"/>
            <a:chExt cx="10541000" cy="44196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0541000" cy="4419600"/>
              <a:chOff x="0" y="0"/>
              <a:chExt cx="10541000" cy="4419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0541000" cy="4419600"/>
              </a:xfrm>
              <a:custGeom>
                <a:avLst/>
                <a:gdLst/>
                <a:ahLst/>
                <a:cxnLst/>
                <a:rect l="l" t="t" r="r" b="b"/>
                <a:pathLst>
                  <a:path w="10541000" h="4419600">
                    <a:moveTo>
                      <a:pt x="0" y="0"/>
                    </a:moveTo>
                    <a:lnTo>
                      <a:pt x="10541000" y="0"/>
                    </a:lnTo>
                    <a:lnTo>
                      <a:pt x="10541000" y="4419600"/>
                    </a:lnTo>
                    <a:lnTo>
                      <a:pt x="0" y="44196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C8DAD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0541000" cy="445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0"/>
              <a:ext cx="6604000" cy="965200"/>
              <a:chOff x="0" y="0"/>
              <a:chExt cx="6604000" cy="965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604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9652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0D2A3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6604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6604000" y="0"/>
              <a:ext cx="3937000" cy="965200"/>
              <a:chOff x="0" y="0"/>
              <a:chExt cx="3937000" cy="9652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937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3937000" h="9652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0D2A3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3937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0" y="1828800"/>
              <a:ext cx="6604000" cy="863600"/>
              <a:chOff x="0" y="0"/>
              <a:chExt cx="6604000" cy="8636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6040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8636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863600"/>
                    </a:lnTo>
                    <a:lnTo>
                      <a:pt x="0" y="863600"/>
                    </a:lnTo>
                    <a:close/>
                  </a:path>
                </a:pathLst>
              </a:custGeom>
              <a:solidFill>
                <a:srgbClr val="E7F1F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6604000" cy="901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604000" y="1828800"/>
              <a:ext cx="3937000" cy="863600"/>
              <a:chOff x="0" y="0"/>
              <a:chExt cx="3937000" cy="8636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39370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3937000" h="8636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863600"/>
                    </a:lnTo>
                    <a:lnTo>
                      <a:pt x="0" y="863600"/>
                    </a:lnTo>
                    <a:close/>
                  </a:path>
                </a:pathLst>
              </a:custGeom>
              <a:solidFill>
                <a:srgbClr val="E7F1F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3937000" cy="901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3556000"/>
              <a:ext cx="6604000" cy="863600"/>
              <a:chOff x="0" y="0"/>
              <a:chExt cx="6604000" cy="8636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66040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8636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863600"/>
                    </a:lnTo>
                    <a:lnTo>
                      <a:pt x="0" y="863600"/>
                    </a:lnTo>
                    <a:close/>
                  </a:path>
                </a:pathLst>
              </a:custGeom>
              <a:solidFill>
                <a:srgbClr val="E7F1F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6604000" cy="901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604000" y="3556000"/>
              <a:ext cx="3937000" cy="863600"/>
              <a:chOff x="0" y="0"/>
              <a:chExt cx="3937000" cy="8636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39370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3937000" h="8636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863600"/>
                    </a:lnTo>
                    <a:lnTo>
                      <a:pt x="0" y="863600"/>
                    </a:lnTo>
                    <a:close/>
                  </a:path>
                </a:pathLst>
              </a:custGeom>
              <a:solidFill>
                <a:srgbClr val="E7F1F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3937000" cy="901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228600" y="263525"/>
              <a:ext cx="6146800" cy="3549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Heap operation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32600" y="263525"/>
              <a:ext cx="3479800" cy="3549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Cost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8600" y="1200150"/>
              <a:ext cx="6146800" cy="323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102B3A"/>
                  </a:solidFill>
                  <a:latin typeface="Open Sans"/>
                  <a:ea typeface="Open Sans"/>
                  <a:cs typeface="Open Sans"/>
                  <a:sym typeface="Open Sans"/>
                </a:rPr>
                <a:t>insert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32600" y="1200150"/>
              <a:ext cx="3479800" cy="323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607B86"/>
                  </a:solidFill>
                  <a:latin typeface="Open Sans"/>
                  <a:ea typeface="Open Sans"/>
                  <a:cs typeface="Open Sans"/>
                  <a:sym typeface="Open Sans"/>
                </a:rPr>
                <a:t>O(log V)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28600" y="2063750"/>
              <a:ext cx="6146800" cy="323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102B3A"/>
                  </a:solidFill>
                  <a:latin typeface="Open Sans"/>
                  <a:ea typeface="Open Sans"/>
                  <a:cs typeface="Open Sans"/>
                  <a:sym typeface="Open Sans"/>
                </a:rPr>
                <a:t>extract_min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32600" y="2063750"/>
              <a:ext cx="3479800" cy="323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607B86"/>
                  </a:solidFill>
                  <a:latin typeface="Open Sans"/>
                  <a:ea typeface="Open Sans"/>
                  <a:cs typeface="Open Sans"/>
                  <a:sym typeface="Open Sans"/>
                </a:rPr>
                <a:t>O(log V)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28600" y="2927350"/>
              <a:ext cx="6146800" cy="323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102B3A"/>
                  </a:solidFill>
                  <a:latin typeface="Open Sans"/>
                  <a:ea typeface="Open Sans"/>
                  <a:cs typeface="Open Sans"/>
                  <a:sym typeface="Open Sans"/>
                </a:rPr>
                <a:t>decrease_key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32600" y="2927350"/>
              <a:ext cx="3479800" cy="323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607B86"/>
                  </a:solidFill>
                  <a:latin typeface="Open Sans"/>
                  <a:ea typeface="Open Sans"/>
                  <a:cs typeface="Open Sans"/>
                  <a:sym typeface="Open Sans"/>
                </a:rPr>
                <a:t>O(log V)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28600" y="3790950"/>
              <a:ext cx="6146800" cy="323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102B3A"/>
                  </a:solidFill>
                  <a:latin typeface="Open Sans"/>
                  <a:ea typeface="Open Sans"/>
                  <a:cs typeface="Open Sans"/>
                  <a:sym typeface="Open Sans"/>
                </a:rPr>
                <a:t>contains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32600" y="3790950"/>
              <a:ext cx="3479800" cy="323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607B86"/>
                  </a:solidFill>
                  <a:latin typeface="Open Sans"/>
                  <a:ea typeface="Open Sans"/>
                  <a:cs typeface="Open Sans"/>
                  <a:sym typeface="Open Sans"/>
                </a:rPr>
                <a:t>O(1)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066800" y="9705975"/>
            <a:ext cx="476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07B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SC2001  •  PROJECT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14350"/>
            <a:ext cx="16154400" cy="1171575"/>
            <a:chOff x="0" y="0"/>
            <a:chExt cx="21539200" cy="15621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98">
                  <a:solidFill>
                    <a:srgbClr val="18B7A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07B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90550"/>
              <a:ext cx="19050000" cy="669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600" b="1">
                  <a:solidFill>
                    <a:srgbClr val="102B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Lists + min-heap  /  the main loop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524000"/>
              <a:ext cx="21539200" cy="38100"/>
              <a:chOff x="0" y="0"/>
              <a:chExt cx="21539200" cy="381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39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1539200" h="38100">
                    <a:moveTo>
                      <a:pt x="0" y="0"/>
                    </a:moveTo>
                    <a:lnTo>
                      <a:pt x="21539200" y="0"/>
                    </a:lnTo>
                    <a:lnTo>
                      <a:pt x="2153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8B7A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539200" cy="76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1066800" y="2238375"/>
            <a:ext cx="10668000" cy="7271861"/>
            <a:chOff x="0" y="0"/>
            <a:chExt cx="14224000" cy="9695815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4224000" cy="9695815"/>
              <a:chOff x="0" y="0"/>
              <a:chExt cx="14224000" cy="96958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4224000" cy="9695815"/>
              </a:xfrm>
              <a:custGeom>
                <a:avLst/>
                <a:gdLst/>
                <a:ahLst/>
                <a:cxnLst/>
                <a:rect l="l" t="t" r="r" b="b"/>
                <a:pathLst>
                  <a:path w="14224000" h="9695815">
                    <a:moveTo>
                      <a:pt x="0" y="0"/>
                    </a:moveTo>
                    <a:lnTo>
                      <a:pt x="14224000" y="0"/>
                    </a:lnTo>
                    <a:lnTo>
                      <a:pt x="14224000" y="9695815"/>
                    </a:lnTo>
                    <a:lnTo>
                      <a:pt x="0" y="9695815"/>
                    </a:lnTo>
                    <a:close/>
                  </a:path>
                </a:pathLst>
              </a:custGeom>
              <a:solidFill>
                <a:srgbClr val="0D2A3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4224000" cy="97339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31800" y="327025"/>
              <a:ext cx="13360400" cy="47745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27"/>
                </a:lnSpc>
                <a:spcBef>
                  <a:spcPct val="0"/>
                </a:spcBef>
              </a:pPr>
              <a:r>
                <a:rPr lang="en-US" sz="1650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while not heap.is_empty():</a:t>
              </a:r>
            </a:p>
            <a:p>
              <a:pPr marL="0" lvl="0" indent="0" algn="l">
                <a:lnSpc>
                  <a:spcPts val="2227"/>
                </a:lnSpc>
                <a:spcBef>
                  <a:spcPct val="0"/>
                </a:spcBef>
              </a:pPr>
              <a:r>
                <a:rPr lang="en-US" sz="1650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current_vertex, current_distance = heap.extract_min()</a:t>
              </a:r>
            </a:p>
            <a:p>
              <a:pPr marL="0" lvl="0" indent="0" algn="l">
                <a:lnSpc>
                  <a:spcPts val="2227"/>
                </a:lnSpc>
                <a:spcBef>
                  <a:spcPct val="0"/>
                </a:spcBef>
              </a:pPr>
              <a:r>
                <a:rPr lang="en-US" sz="1650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if current_distance == INFINITY:</a:t>
              </a:r>
            </a:p>
            <a:p>
              <a:pPr marL="0" lvl="0" indent="0" algn="l">
                <a:lnSpc>
                  <a:spcPts val="2227"/>
                </a:lnSpc>
                <a:spcBef>
                  <a:spcPct val="0"/>
                </a:spcBef>
              </a:pPr>
              <a:r>
                <a:rPr lang="en-US" sz="1650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break                     # rest are unreachable</a:t>
              </a:r>
            </a:p>
            <a:p>
              <a:pPr marL="0" lvl="0" indent="0" algn="l">
                <a:lnSpc>
                  <a:spcPts val="2227"/>
                </a:lnSpc>
                <a:spcBef>
                  <a:spcPct val="0"/>
                </a:spcBef>
              </a:pPr>
              <a:endParaRPr lang="en-US" sz="1650" u="none" strike="noStrike">
                <a:solidFill>
                  <a:srgbClr val="9CE6D9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marL="0" lvl="0" indent="0" algn="l">
                <a:lnSpc>
                  <a:spcPts val="2227"/>
                </a:lnSpc>
                <a:spcBef>
                  <a:spcPct val="0"/>
                </a:spcBef>
              </a:pPr>
              <a:r>
                <a:rPr lang="en-US" sz="1650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for neighbour, edge_weight in adjacency_list[current_vertex]:</a:t>
              </a:r>
            </a:p>
            <a:p>
              <a:pPr marL="0" lvl="0" indent="0" algn="l">
                <a:lnSpc>
                  <a:spcPts val="2227"/>
                </a:lnSpc>
                <a:spcBef>
                  <a:spcPct val="0"/>
                </a:spcBef>
              </a:pPr>
              <a:r>
                <a:rPr lang="en-US" sz="1650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if not heap.contains(neighbour):</a:t>
              </a:r>
            </a:p>
            <a:p>
              <a:pPr marL="0" lvl="0" indent="0" algn="l">
                <a:lnSpc>
                  <a:spcPts val="2227"/>
                </a:lnSpc>
                <a:spcBef>
                  <a:spcPct val="0"/>
                </a:spcBef>
              </a:pPr>
              <a:r>
                <a:rPr lang="en-US" sz="1650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    continue              # distance already final</a:t>
              </a:r>
            </a:p>
            <a:p>
              <a:pPr marL="0" lvl="0" indent="0" algn="l">
                <a:lnSpc>
                  <a:spcPts val="2227"/>
                </a:lnSpc>
                <a:spcBef>
                  <a:spcPct val="0"/>
                </a:spcBef>
              </a:pPr>
              <a:r>
                <a:rPr lang="en-US" sz="1650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new_distance = current_distance + edge_weight</a:t>
              </a:r>
            </a:p>
            <a:p>
              <a:pPr marL="0" lvl="0" indent="0" algn="l">
                <a:lnSpc>
                  <a:spcPts val="2227"/>
                </a:lnSpc>
                <a:spcBef>
                  <a:spcPct val="0"/>
                </a:spcBef>
              </a:pPr>
              <a:r>
                <a:rPr lang="en-US" sz="1650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if new_distance &lt; distances[neighbour]:</a:t>
              </a:r>
            </a:p>
            <a:p>
              <a:pPr marL="0" lvl="0" indent="0" algn="l">
                <a:lnSpc>
                  <a:spcPts val="2227"/>
                </a:lnSpc>
                <a:spcBef>
                  <a:spcPct val="0"/>
                </a:spcBef>
              </a:pPr>
              <a:r>
                <a:rPr lang="en-US" sz="1650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    distances[neighbour] = new_distance</a:t>
              </a:r>
            </a:p>
            <a:p>
              <a:pPr marL="0" lvl="0" indent="0" algn="l">
                <a:lnSpc>
                  <a:spcPts val="2227"/>
                </a:lnSpc>
                <a:spcBef>
                  <a:spcPct val="0"/>
                </a:spcBef>
              </a:pPr>
              <a:r>
                <a:rPr lang="en-US" sz="1650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    previous[neighbour] = current_vertex</a:t>
              </a:r>
            </a:p>
            <a:p>
              <a:pPr marL="0" lvl="0" indent="0" algn="l">
                <a:lnSpc>
                  <a:spcPts val="2227"/>
                </a:lnSpc>
                <a:spcBef>
                  <a:spcPct val="0"/>
                </a:spcBef>
              </a:pPr>
              <a:r>
                <a:rPr lang="en-US" sz="1650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    heap.decrease_key(neighbour, new_distance)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573000" y="2971800"/>
            <a:ext cx="3333750" cy="1138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62"/>
              </a:lnSpc>
            </a:pPr>
            <a:r>
              <a:rPr lang="en-US" sz="8250" b="1">
                <a:solidFill>
                  <a:srgbClr val="18B7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1×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73000" y="4019550"/>
            <a:ext cx="4000500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02B3A"/>
                </a:solidFill>
                <a:latin typeface="Open Sans"/>
                <a:ea typeface="Open Sans"/>
                <a:cs typeface="Open Sans"/>
                <a:sym typeface="Open Sans"/>
              </a:rPr>
              <a:t>each vertex extracted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73000" y="5657850"/>
            <a:ext cx="4286250" cy="289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3"/>
              </a:lnSpc>
            </a:pPr>
            <a:r>
              <a:rPr lang="en-US" sz="2175" b="1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Only real edges are scanned.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6800" y="9705975"/>
            <a:ext cx="476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07B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SC2001  •  PROJECT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14350"/>
            <a:ext cx="16154400" cy="1171575"/>
            <a:chOff x="0" y="0"/>
            <a:chExt cx="21539200" cy="15621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98">
                  <a:solidFill>
                    <a:srgbClr val="18B7A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08B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90550"/>
              <a:ext cx="19050000" cy="669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600" b="1">
                  <a:solidFill>
                    <a:srgbClr val="102B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decrease_key  /  the position array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524000"/>
              <a:ext cx="21539200" cy="38100"/>
              <a:chOff x="0" y="0"/>
              <a:chExt cx="21539200" cy="381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39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1539200" h="38100">
                    <a:moveTo>
                      <a:pt x="0" y="0"/>
                    </a:moveTo>
                    <a:lnTo>
                      <a:pt x="21539200" y="0"/>
                    </a:lnTo>
                    <a:lnTo>
                      <a:pt x="2153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8B7A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539200" cy="76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1066800" y="2238375"/>
            <a:ext cx="10001250" cy="6462236"/>
            <a:chOff x="0" y="0"/>
            <a:chExt cx="13335000" cy="8616315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3335000" cy="8616315"/>
              <a:chOff x="0" y="0"/>
              <a:chExt cx="13335000" cy="86163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3335000" cy="8616315"/>
              </a:xfrm>
              <a:custGeom>
                <a:avLst/>
                <a:gdLst/>
                <a:ahLst/>
                <a:cxnLst/>
                <a:rect l="l" t="t" r="r" b="b"/>
                <a:pathLst>
                  <a:path w="13335000" h="8616315">
                    <a:moveTo>
                      <a:pt x="0" y="0"/>
                    </a:moveTo>
                    <a:lnTo>
                      <a:pt x="13335000" y="0"/>
                    </a:lnTo>
                    <a:lnTo>
                      <a:pt x="13335000" y="8616315"/>
                    </a:lnTo>
                    <a:lnTo>
                      <a:pt x="0" y="8616315"/>
                    </a:lnTo>
                    <a:close/>
                  </a:path>
                </a:pathLst>
              </a:custGeom>
              <a:solidFill>
                <a:srgbClr val="0D2A3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3335000" cy="86544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31800" y="327025"/>
              <a:ext cx="12471400" cy="4406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27"/>
                </a:lnSpc>
                <a:spcBef>
                  <a:spcPct val="0"/>
                </a:spcBef>
              </a:pPr>
              <a:r>
                <a:rPr lang="en-US" sz="1650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def decrease_key(self, vertex, new_key):</a:t>
              </a:r>
            </a:p>
            <a:p>
              <a:pPr marL="0" lvl="0" indent="0" algn="l">
                <a:lnSpc>
                  <a:spcPts val="2227"/>
                </a:lnSpc>
                <a:spcBef>
                  <a:spcPct val="0"/>
                </a:spcBef>
              </a:pPr>
              <a:r>
                <a:rPr lang="en-US" sz="1650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index = self.position[vertex]     # O(1) lookup</a:t>
              </a:r>
            </a:p>
            <a:p>
              <a:pPr marL="0" lvl="0" indent="0" algn="l">
                <a:lnSpc>
                  <a:spcPts val="2227"/>
                </a:lnSpc>
                <a:spcBef>
                  <a:spcPct val="0"/>
                </a:spcBef>
              </a:pPr>
              <a:r>
                <a:rPr lang="en-US" sz="1650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self.keys[index] = new_key</a:t>
              </a:r>
            </a:p>
            <a:p>
              <a:pPr marL="0" lvl="0" indent="0" algn="l">
                <a:lnSpc>
                  <a:spcPts val="2227"/>
                </a:lnSpc>
                <a:spcBef>
                  <a:spcPct val="0"/>
                </a:spcBef>
              </a:pPr>
              <a:r>
                <a:rPr lang="en-US" sz="1650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self.sift_up(index)               # O(log V)</a:t>
              </a:r>
            </a:p>
            <a:p>
              <a:pPr marL="0" lvl="0" indent="0" algn="l">
                <a:lnSpc>
                  <a:spcPts val="2227"/>
                </a:lnSpc>
                <a:spcBef>
                  <a:spcPct val="0"/>
                </a:spcBef>
              </a:pPr>
              <a:endParaRPr lang="en-US" sz="1650" u="none" strike="noStrike">
                <a:solidFill>
                  <a:srgbClr val="9CE6D9"/>
                </a:solidFill>
                <a:latin typeface="IBM Plex Mono"/>
                <a:ea typeface="IBM Plex Mono"/>
                <a:cs typeface="IBM Plex Mono"/>
                <a:sym typeface="IBM Plex Mono"/>
              </a:endParaRPr>
            </a:p>
            <a:p>
              <a:pPr marL="0" lvl="0" indent="0" algn="l">
                <a:lnSpc>
                  <a:spcPts val="2227"/>
                </a:lnSpc>
                <a:spcBef>
                  <a:spcPct val="0"/>
                </a:spcBef>
              </a:pPr>
              <a:r>
                <a:rPr lang="en-US" sz="1650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def sift_up(self, index):</a:t>
              </a:r>
            </a:p>
            <a:p>
              <a:pPr marL="0" lvl="0" indent="0" algn="l">
                <a:lnSpc>
                  <a:spcPts val="2227"/>
                </a:lnSpc>
                <a:spcBef>
                  <a:spcPct val="0"/>
                </a:spcBef>
              </a:pPr>
              <a:r>
                <a:rPr lang="en-US" sz="1650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while index &gt; 0:</a:t>
              </a:r>
            </a:p>
            <a:p>
              <a:pPr marL="0" lvl="0" indent="0" algn="l">
                <a:lnSpc>
                  <a:spcPts val="2227"/>
                </a:lnSpc>
                <a:spcBef>
                  <a:spcPct val="0"/>
                </a:spcBef>
              </a:pPr>
              <a:r>
                <a:rPr lang="en-US" sz="1650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parent = (index - 1) // 2</a:t>
              </a:r>
            </a:p>
            <a:p>
              <a:pPr marL="0" lvl="0" indent="0" algn="l">
                <a:lnSpc>
                  <a:spcPts val="2227"/>
                </a:lnSpc>
                <a:spcBef>
                  <a:spcPct val="0"/>
                </a:spcBef>
              </a:pPr>
              <a:r>
                <a:rPr lang="en-US" sz="1650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if self.keys[parent] &lt;= self.keys[index]:</a:t>
              </a:r>
            </a:p>
            <a:p>
              <a:pPr marL="0" lvl="0" indent="0" algn="l">
                <a:lnSpc>
                  <a:spcPts val="2227"/>
                </a:lnSpc>
                <a:spcBef>
                  <a:spcPct val="0"/>
                </a:spcBef>
              </a:pPr>
              <a:r>
                <a:rPr lang="en-US" sz="1650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    break</a:t>
              </a:r>
            </a:p>
            <a:p>
              <a:pPr marL="0" lvl="0" indent="0" algn="l">
                <a:lnSpc>
                  <a:spcPts val="2227"/>
                </a:lnSpc>
                <a:spcBef>
                  <a:spcPct val="0"/>
                </a:spcBef>
              </a:pPr>
              <a:r>
                <a:rPr lang="en-US" sz="1650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self.swap(index, parent)      # also updates position[]</a:t>
              </a:r>
            </a:p>
            <a:p>
              <a:pPr marL="0" lvl="0" indent="0" algn="l">
                <a:lnSpc>
                  <a:spcPts val="2227"/>
                </a:lnSpc>
                <a:spcBef>
                  <a:spcPct val="0"/>
                </a:spcBef>
              </a:pPr>
              <a:r>
                <a:rPr lang="en-US" sz="1650" u="none" strike="noStrike">
                  <a:solidFill>
                    <a:srgbClr val="9CE6D9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  index = parent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192000" y="2809875"/>
            <a:ext cx="4857750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 spc="305">
                <a:solidFill>
                  <a:srgbClr val="F4B86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Without position[]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92000" y="3571875"/>
            <a:ext cx="4381500" cy="92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7"/>
              </a:lnSpc>
            </a:pPr>
            <a:r>
              <a:rPr lang="en-US" sz="6750" b="1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O(V)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92000" y="5381625"/>
            <a:ext cx="4857750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 spc="305">
                <a:solidFill>
                  <a:srgbClr val="18B7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With position[]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92000" y="6124575"/>
            <a:ext cx="4762500" cy="719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12"/>
              </a:lnSpc>
            </a:pPr>
            <a:r>
              <a:rPr lang="en-US" sz="5250" b="1">
                <a:solidFill>
                  <a:srgbClr val="18B7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O(1) lookup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6800" y="9705975"/>
            <a:ext cx="476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07B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SC2001  •  PROJECT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14350"/>
            <a:ext cx="16154400" cy="1171575"/>
            <a:chOff x="0" y="0"/>
            <a:chExt cx="21539200" cy="15621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98">
                  <a:solidFill>
                    <a:srgbClr val="18B7A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09B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90550"/>
              <a:ext cx="19050000" cy="669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6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Lists + min-heap  /  theoretical complexity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524000"/>
              <a:ext cx="21539200" cy="38100"/>
              <a:chOff x="0" y="0"/>
              <a:chExt cx="21539200" cy="381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39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1539200" h="38100">
                    <a:moveTo>
                      <a:pt x="0" y="0"/>
                    </a:moveTo>
                    <a:lnTo>
                      <a:pt x="21539200" y="0"/>
                    </a:lnTo>
                    <a:lnTo>
                      <a:pt x="2153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8B7A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539200" cy="76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sp>
        <p:nvSpPr>
          <p:cNvPr id="8" name="TextBox 8"/>
          <p:cNvSpPr txBox="1"/>
          <p:nvPr/>
        </p:nvSpPr>
        <p:spPr>
          <a:xfrm>
            <a:off x="1714500" y="2800350"/>
            <a:ext cx="5905500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 spc="324">
                <a:solidFill>
                  <a:srgbClr val="18B7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 extracts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4500" y="3457575"/>
            <a:ext cx="5905500" cy="74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54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 log V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77500" y="2800350"/>
            <a:ext cx="5905500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 spc="324">
                <a:solidFill>
                  <a:srgbClr val="18B7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 relaxations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77500" y="3457575"/>
            <a:ext cx="5905500" cy="74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54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 log V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714500" y="5476875"/>
            <a:ext cx="14859000" cy="0"/>
          </a:xfrm>
          <a:prstGeom prst="line">
            <a:avLst/>
          </a:prstGeom>
          <a:ln w="28575" cap="flat">
            <a:solidFill>
              <a:srgbClr val="607B8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Box 13"/>
          <p:cNvSpPr txBox="1"/>
          <p:nvPr/>
        </p:nvSpPr>
        <p:spPr>
          <a:xfrm>
            <a:off x="2667000" y="6305550"/>
            <a:ext cx="12954000" cy="1116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05"/>
              </a:lnSpc>
            </a:pPr>
            <a:r>
              <a:rPr lang="en-US" sz="8100" b="1">
                <a:solidFill>
                  <a:srgbClr val="18B7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O((V + E) log V)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6800" y="9705975"/>
            <a:ext cx="476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9CE6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SC2001  •  PROJECT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14350"/>
            <a:ext cx="16154400" cy="1171575"/>
            <a:chOff x="0" y="0"/>
            <a:chExt cx="21539200" cy="15621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98">
                  <a:solidFill>
                    <a:srgbClr val="18B7A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10B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90550"/>
              <a:ext cx="19050000" cy="669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600" b="1">
                  <a:solidFill>
                    <a:srgbClr val="102B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Lists + min-heap  /  empirical results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524000"/>
              <a:ext cx="21539200" cy="38100"/>
              <a:chOff x="0" y="0"/>
              <a:chExt cx="21539200" cy="381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39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1539200" h="38100">
                    <a:moveTo>
                      <a:pt x="0" y="0"/>
                    </a:moveTo>
                    <a:lnTo>
                      <a:pt x="21539200" y="0"/>
                    </a:lnTo>
                    <a:lnTo>
                      <a:pt x="2153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8B7A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539200" cy="76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54" y="1455938"/>
            <a:ext cx="11806692" cy="7660874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096750" y="2933700"/>
            <a:ext cx="4762500" cy="675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7"/>
              </a:lnSpc>
            </a:pPr>
            <a:r>
              <a:rPr lang="en-US" sz="4950" b="1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90× edges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96750" y="3781425"/>
            <a:ext cx="4762500" cy="543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4050" b="1">
                <a:solidFill>
                  <a:srgbClr val="18B7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→  13× time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96750" y="5657850"/>
            <a:ext cx="4762500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 spc="324">
                <a:solidFill>
                  <a:srgbClr val="18B7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 = 50,000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96750" y="6324600"/>
            <a:ext cx="4762500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600" b="1">
                <a:solidFill>
                  <a:srgbClr val="102B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0.90 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96750" y="7162800"/>
            <a:ext cx="3810000" cy="30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102B3A"/>
                </a:solidFill>
                <a:latin typeface="Open Sans"/>
                <a:ea typeface="Open Sans"/>
                <a:cs typeface="Open Sans"/>
                <a:sym typeface="Open Sans"/>
              </a:rPr>
              <a:t>when E = 5V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6800" y="9705975"/>
            <a:ext cx="476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07B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SC2001  •  PROJECT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14350"/>
            <a:ext cx="16154400" cy="1171575"/>
            <a:chOff x="0" y="0"/>
            <a:chExt cx="21539200" cy="15621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98">
                  <a:solidFill>
                    <a:srgbClr val="18B7A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11C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90550"/>
              <a:ext cx="19050000" cy="669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600" b="1">
                  <a:solidFill>
                    <a:srgbClr val="102B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Theory  /  side by side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524000"/>
              <a:ext cx="21539200" cy="38100"/>
              <a:chOff x="0" y="0"/>
              <a:chExt cx="21539200" cy="381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39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1539200" h="38100">
                    <a:moveTo>
                      <a:pt x="0" y="0"/>
                    </a:moveTo>
                    <a:lnTo>
                      <a:pt x="21539200" y="0"/>
                    </a:lnTo>
                    <a:lnTo>
                      <a:pt x="2153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8B7A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539200" cy="76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sp>
        <p:nvSpPr>
          <p:cNvPr id="8" name="Freeform 8"/>
          <p:cNvSpPr/>
          <p:nvPr/>
        </p:nvSpPr>
        <p:spPr>
          <a:xfrm>
            <a:off x="2668582" y="2188448"/>
            <a:ext cx="12950835" cy="5910103"/>
          </a:xfrm>
          <a:custGeom>
            <a:avLst/>
            <a:gdLst/>
            <a:ahLst/>
            <a:cxnLst/>
            <a:rect l="l" t="t" r="r" b="b"/>
            <a:pathLst>
              <a:path w="12950835" h="5910103">
                <a:moveTo>
                  <a:pt x="0" y="0"/>
                </a:moveTo>
                <a:lnTo>
                  <a:pt x="12950836" y="0"/>
                </a:lnTo>
                <a:lnTo>
                  <a:pt x="12950836" y="5910104"/>
                </a:lnTo>
                <a:lnTo>
                  <a:pt x="0" y="59101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1066800" y="9705975"/>
            <a:ext cx="476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07B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SC2001  •  PROJECT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14350"/>
            <a:ext cx="16154400" cy="1171575"/>
            <a:chOff x="0" y="0"/>
            <a:chExt cx="21539200" cy="15621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98">
                  <a:solidFill>
                    <a:srgbClr val="18B7A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12C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90550"/>
              <a:ext cx="19050000" cy="669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600" b="1">
                  <a:solidFill>
                    <a:srgbClr val="102B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fixed |V| at 500, |E| increases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524000"/>
              <a:ext cx="21539200" cy="38100"/>
              <a:chOff x="0" y="0"/>
              <a:chExt cx="21539200" cy="381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39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1539200" h="38100">
                    <a:moveTo>
                      <a:pt x="0" y="0"/>
                    </a:moveTo>
                    <a:lnTo>
                      <a:pt x="21539200" y="0"/>
                    </a:lnTo>
                    <a:lnTo>
                      <a:pt x="2153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8B7A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539200" cy="76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sp>
        <p:nvSpPr>
          <p:cNvPr id="8" name="TextBox 8"/>
          <p:cNvSpPr txBox="1"/>
          <p:nvPr/>
        </p:nvSpPr>
        <p:spPr>
          <a:xfrm>
            <a:off x="1066800" y="9705975"/>
            <a:ext cx="476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07B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SC2001  •  PROJECT 2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66800" y="2190750"/>
            <a:ext cx="16154400" cy="4953000"/>
            <a:chOff x="0" y="0"/>
            <a:chExt cx="21539200" cy="6604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539200" cy="6604000"/>
            </a:xfrm>
            <a:custGeom>
              <a:avLst/>
              <a:gdLst/>
              <a:ahLst/>
              <a:cxnLst/>
              <a:rect l="l" t="t" r="r" b="b"/>
              <a:pathLst>
                <a:path w="21539200" h="6604000">
                  <a:moveTo>
                    <a:pt x="0" y="0"/>
                  </a:moveTo>
                  <a:lnTo>
                    <a:pt x="21539200" y="0"/>
                  </a:lnTo>
                  <a:lnTo>
                    <a:pt x="21539200" y="6604000"/>
                  </a:lnTo>
                  <a:lnTo>
                    <a:pt x="0" y="6604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8DADA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1539200" cy="664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66800" y="2190750"/>
            <a:ext cx="16154400" cy="685800"/>
            <a:chOff x="0" y="0"/>
            <a:chExt cx="21539200" cy="914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539200" cy="914400"/>
            </a:xfrm>
            <a:custGeom>
              <a:avLst/>
              <a:gdLst/>
              <a:ahLst/>
              <a:cxnLst/>
              <a:rect l="l" t="t" r="r" b="b"/>
              <a:pathLst>
                <a:path w="21539200" h="914400">
                  <a:moveTo>
                    <a:pt x="0" y="0"/>
                  </a:moveTo>
                  <a:lnTo>
                    <a:pt x="21539200" y="0"/>
                  </a:lnTo>
                  <a:lnTo>
                    <a:pt x="215392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D2A3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1539200" cy="95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66800" y="3486150"/>
            <a:ext cx="16154400" cy="609600"/>
            <a:chOff x="0" y="0"/>
            <a:chExt cx="215392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539200" cy="812800"/>
            </a:xfrm>
            <a:custGeom>
              <a:avLst/>
              <a:gdLst/>
              <a:ahLst/>
              <a:cxnLst/>
              <a:rect l="l" t="t" r="r" b="b"/>
              <a:pathLst>
                <a:path w="21539200" h="812800">
                  <a:moveTo>
                    <a:pt x="0" y="0"/>
                  </a:moveTo>
                  <a:lnTo>
                    <a:pt x="21539200" y="0"/>
                  </a:lnTo>
                  <a:lnTo>
                    <a:pt x="215392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7F1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15392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66800" y="4705350"/>
            <a:ext cx="16154400" cy="609600"/>
            <a:chOff x="0" y="0"/>
            <a:chExt cx="215392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539200" cy="812800"/>
            </a:xfrm>
            <a:custGeom>
              <a:avLst/>
              <a:gdLst/>
              <a:ahLst/>
              <a:cxnLst/>
              <a:rect l="l" t="t" r="r" b="b"/>
              <a:pathLst>
                <a:path w="21539200" h="812800">
                  <a:moveTo>
                    <a:pt x="0" y="0"/>
                  </a:moveTo>
                  <a:lnTo>
                    <a:pt x="21539200" y="0"/>
                  </a:lnTo>
                  <a:lnTo>
                    <a:pt x="215392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7F1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15392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66800" y="5924550"/>
            <a:ext cx="16154400" cy="609600"/>
            <a:chOff x="0" y="0"/>
            <a:chExt cx="215392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539200" cy="812800"/>
            </a:xfrm>
            <a:custGeom>
              <a:avLst/>
              <a:gdLst/>
              <a:ahLst/>
              <a:cxnLst/>
              <a:rect l="l" t="t" r="r" b="b"/>
              <a:pathLst>
                <a:path w="21539200" h="812800">
                  <a:moveTo>
                    <a:pt x="0" y="0"/>
                  </a:moveTo>
                  <a:lnTo>
                    <a:pt x="21539200" y="0"/>
                  </a:lnTo>
                  <a:lnTo>
                    <a:pt x="215392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7F1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15392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38250" y="2343150"/>
            <a:ext cx="1847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Density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38250" y="2990850"/>
            <a:ext cx="1847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B3A"/>
                </a:solidFill>
                <a:latin typeface="Arimo Bold"/>
                <a:ea typeface="Arimo Bold"/>
                <a:cs typeface="Arimo Bold"/>
                <a:sym typeface="Arimo Bold"/>
              </a:rPr>
              <a:t>1%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8250" y="3600450"/>
            <a:ext cx="1847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B3A"/>
                </a:solidFill>
                <a:latin typeface="Arimo Bold"/>
                <a:ea typeface="Arimo Bold"/>
                <a:cs typeface="Arimo Bold"/>
                <a:sym typeface="Arimo Bold"/>
              </a:rPr>
              <a:t>10%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8250" y="4210050"/>
            <a:ext cx="1847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B3A"/>
                </a:solidFill>
                <a:latin typeface="Arimo Bold"/>
                <a:ea typeface="Arimo Bold"/>
                <a:cs typeface="Arimo Bold"/>
                <a:sym typeface="Arimo Bold"/>
              </a:rPr>
              <a:t>25%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8250" y="4819650"/>
            <a:ext cx="1847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B3A"/>
                </a:solidFill>
                <a:latin typeface="Arimo Bold"/>
                <a:ea typeface="Arimo Bold"/>
                <a:cs typeface="Arimo Bold"/>
                <a:sym typeface="Arimo Bold"/>
              </a:rPr>
              <a:t>50%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38250" y="5429250"/>
            <a:ext cx="1847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B3A"/>
                </a:solidFill>
                <a:latin typeface="Arimo Bold"/>
                <a:ea typeface="Arimo Bold"/>
                <a:cs typeface="Arimo Bold"/>
                <a:sym typeface="Arimo Bold"/>
              </a:rPr>
              <a:t>75%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38250" y="6038850"/>
            <a:ext cx="1847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B3A"/>
                </a:solidFill>
                <a:latin typeface="Arimo Bold"/>
                <a:ea typeface="Arimo Bold"/>
                <a:cs typeface="Arimo Bold"/>
                <a:sym typeface="Arimo Bold"/>
              </a:rPr>
              <a:t>90%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38250" y="6648450"/>
            <a:ext cx="1847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B3A"/>
                </a:solidFill>
                <a:latin typeface="Arimo Bold"/>
                <a:ea typeface="Arimo Bold"/>
                <a:cs typeface="Arimo Bold"/>
                <a:sym typeface="Arimo Bold"/>
              </a:rPr>
              <a:t>100%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429000" y="2343150"/>
            <a:ext cx="2228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|E|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429000" y="2990850"/>
            <a:ext cx="2228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1,247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429000" y="3600450"/>
            <a:ext cx="2228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12,475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429000" y="4210050"/>
            <a:ext cx="2228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31,187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429000" y="4819650"/>
            <a:ext cx="2228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62,375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429000" y="5429250"/>
            <a:ext cx="2228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93,562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429000" y="6038850"/>
            <a:ext cx="2228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112,275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429000" y="6648450"/>
            <a:ext cx="2228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124,750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000750" y="23431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(a) time (s)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000750" y="29908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0.01237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000750" y="36004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0.01320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000750" y="42100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0.01467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000750" y="48196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0.01820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000750" y="54292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0.01919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000750" y="60388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0.01998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000750" y="66484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0.02104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620250" y="23431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(b) time (s)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620250" y="29908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0.00124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620250" y="36004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0.00493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620250" y="42100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0.01313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620250" y="48196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0.02153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620250" y="54292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0.02424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620250" y="60388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0.02490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620250" y="66484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0.02580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3239750" y="2343150"/>
            <a:ext cx="38100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Faster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3239750" y="2990850"/>
            <a:ext cx="38100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E8C7A"/>
                </a:solidFill>
                <a:latin typeface="Arimo Bold"/>
                <a:ea typeface="Arimo Bold"/>
                <a:cs typeface="Arimo Bold"/>
                <a:sym typeface="Arimo Bold"/>
              </a:rPr>
              <a:t>(b), ~10x faster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3239750" y="3600450"/>
            <a:ext cx="38100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E8C7A"/>
                </a:solidFill>
                <a:latin typeface="Arimo Bold"/>
                <a:ea typeface="Arimo Bold"/>
                <a:cs typeface="Arimo Bold"/>
                <a:sym typeface="Arimo Bold"/>
              </a:rPr>
              <a:t>(b), ~2.7x faster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3239750" y="4210050"/>
            <a:ext cx="38100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E8C7A"/>
                </a:solidFill>
                <a:latin typeface="Arimo Bold"/>
                <a:ea typeface="Arimo Bold"/>
                <a:cs typeface="Arimo Bold"/>
                <a:sym typeface="Arimo Bold"/>
              </a:rPr>
              <a:t>(b), ~1.1x faster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239750" y="4819650"/>
            <a:ext cx="38100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B57514"/>
                </a:solidFill>
                <a:latin typeface="Arimo Bold"/>
                <a:ea typeface="Arimo Bold"/>
                <a:cs typeface="Arimo Bold"/>
                <a:sym typeface="Arimo Bold"/>
              </a:rPr>
              <a:t>(a), ~1.2x faster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3239750" y="5429250"/>
            <a:ext cx="38100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B57514"/>
                </a:solidFill>
                <a:latin typeface="Arimo Bold"/>
                <a:ea typeface="Arimo Bold"/>
                <a:cs typeface="Arimo Bold"/>
                <a:sym typeface="Arimo Bold"/>
              </a:rPr>
              <a:t>(a), ~1.3x faster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3239750" y="6038850"/>
            <a:ext cx="38100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B57514"/>
                </a:solidFill>
                <a:latin typeface="Arimo Bold"/>
                <a:ea typeface="Arimo Bold"/>
                <a:cs typeface="Arimo Bold"/>
                <a:sym typeface="Arimo Bold"/>
              </a:rPr>
              <a:t>(a), ~1.2x faster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3239750" y="6648450"/>
            <a:ext cx="38100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B57514"/>
                </a:solidFill>
                <a:latin typeface="Arimo Bold"/>
                <a:ea typeface="Arimo Bold"/>
                <a:cs typeface="Arimo Bold"/>
                <a:sym typeface="Arimo Bold"/>
              </a:rPr>
              <a:t>(a), ~1.2x faster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066800" y="7572375"/>
            <a:ext cx="161544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0E8C7A"/>
                </a:solidFill>
                <a:latin typeface="Arimo Bold"/>
                <a:ea typeface="Arimo Bold"/>
                <a:cs typeface="Arimo Bold"/>
                <a:sym typeface="Arimo Bold"/>
              </a:rPr>
              <a:t>Both parts run on the same laptop, on identical graphs (average of 5 runs). The lines cross at about 33% density.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14350"/>
            <a:ext cx="16154400" cy="1171575"/>
            <a:chOff x="0" y="0"/>
            <a:chExt cx="21539200" cy="15621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98">
                  <a:solidFill>
                    <a:srgbClr val="18B7A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12C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90550"/>
              <a:ext cx="19050000" cy="669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600" b="1">
                  <a:solidFill>
                    <a:srgbClr val="102B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fixed density ~25%, |V| increases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524000"/>
              <a:ext cx="21539200" cy="38100"/>
              <a:chOff x="0" y="0"/>
              <a:chExt cx="21539200" cy="381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39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1539200" h="38100">
                    <a:moveTo>
                      <a:pt x="0" y="0"/>
                    </a:moveTo>
                    <a:lnTo>
                      <a:pt x="21539200" y="0"/>
                    </a:lnTo>
                    <a:lnTo>
                      <a:pt x="2153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8B7A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539200" cy="76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sp>
        <p:nvSpPr>
          <p:cNvPr id="8" name="TextBox 8"/>
          <p:cNvSpPr txBox="1"/>
          <p:nvPr/>
        </p:nvSpPr>
        <p:spPr>
          <a:xfrm>
            <a:off x="1066800" y="9705975"/>
            <a:ext cx="476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07B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SC2001  •  PROJECT 2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66800" y="2190750"/>
            <a:ext cx="16154400" cy="3733800"/>
            <a:chOff x="0" y="0"/>
            <a:chExt cx="21539200" cy="4978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539200" cy="4978400"/>
            </a:xfrm>
            <a:custGeom>
              <a:avLst/>
              <a:gdLst/>
              <a:ahLst/>
              <a:cxnLst/>
              <a:rect l="l" t="t" r="r" b="b"/>
              <a:pathLst>
                <a:path w="21539200" h="4978400">
                  <a:moveTo>
                    <a:pt x="0" y="0"/>
                  </a:moveTo>
                  <a:lnTo>
                    <a:pt x="21539200" y="0"/>
                  </a:lnTo>
                  <a:lnTo>
                    <a:pt x="21539200" y="4978400"/>
                  </a:lnTo>
                  <a:lnTo>
                    <a:pt x="0" y="49784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8DADA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1539200" cy="5016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66800" y="2190750"/>
            <a:ext cx="16154400" cy="685800"/>
            <a:chOff x="0" y="0"/>
            <a:chExt cx="21539200" cy="914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539200" cy="914400"/>
            </a:xfrm>
            <a:custGeom>
              <a:avLst/>
              <a:gdLst/>
              <a:ahLst/>
              <a:cxnLst/>
              <a:rect l="l" t="t" r="r" b="b"/>
              <a:pathLst>
                <a:path w="21539200" h="914400">
                  <a:moveTo>
                    <a:pt x="0" y="0"/>
                  </a:moveTo>
                  <a:lnTo>
                    <a:pt x="21539200" y="0"/>
                  </a:lnTo>
                  <a:lnTo>
                    <a:pt x="215392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D2A3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1539200" cy="95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66800" y="3486150"/>
            <a:ext cx="16154400" cy="609600"/>
            <a:chOff x="0" y="0"/>
            <a:chExt cx="215392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539200" cy="812800"/>
            </a:xfrm>
            <a:custGeom>
              <a:avLst/>
              <a:gdLst/>
              <a:ahLst/>
              <a:cxnLst/>
              <a:rect l="l" t="t" r="r" b="b"/>
              <a:pathLst>
                <a:path w="21539200" h="812800">
                  <a:moveTo>
                    <a:pt x="0" y="0"/>
                  </a:moveTo>
                  <a:lnTo>
                    <a:pt x="21539200" y="0"/>
                  </a:lnTo>
                  <a:lnTo>
                    <a:pt x="215392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7F1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15392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66800" y="4705350"/>
            <a:ext cx="16154400" cy="609600"/>
            <a:chOff x="0" y="0"/>
            <a:chExt cx="215392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539200" cy="812800"/>
            </a:xfrm>
            <a:custGeom>
              <a:avLst/>
              <a:gdLst/>
              <a:ahLst/>
              <a:cxnLst/>
              <a:rect l="l" t="t" r="r" b="b"/>
              <a:pathLst>
                <a:path w="21539200" h="812800">
                  <a:moveTo>
                    <a:pt x="0" y="0"/>
                  </a:moveTo>
                  <a:lnTo>
                    <a:pt x="21539200" y="0"/>
                  </a:lnTo>
                  <a:lnTo>
                    <a:pt x="215392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7F1F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15392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38250" y="2343150"/>
            <a:ext cx="1847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|V|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8250" y="2990850"/>
            <a:ext cx="1847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B3A"/>
                </a:solidFill>
                <a:latin typeface="Arimo Bold"/>
                <a:ea typeface="Arimo Bold"/>
                <a:cs typeface="Arimo Bold"/>
                <a:sym typeface="Arimo Bold"/>
              </a:rPr>
              <a:t>100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8250" y="3600450"/>
            <a:ext cx="1847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B3A"/>
                </a:solidFill>
                <a:latin typeface="Arimo Bold"/>
                <a:ea typeface="Arimo Bold"/>
                <a:cs typeface="Arimo Bold"/>
                <a:sym typeface="Arimo Bold"/>
              </a:rPr>
              <a:t>200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38250" y="4210050"/>
            <a:ext cx="1847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B3A"/>
                </a:solidFill>
                <a:latin typeface="Arimo Bold"/>
                <a:ea typeface="Arimo Bold"/>
                <a:cs typeface="Arimo Bold"/>
                <a:sym typeface="Arimo Bold"/>
              </a:rPr>
              <a:t>400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38250" y="4819650"/>
            <a:ext cx="1847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B3A"/>
                </a:solidFill>
                <a:latin typeface="Arimo Bold"/>
                <a:ea typeface="Arimo Bold"/>
                <a:cs typeface="Arimo Bold"/>
                <a:sym typeface="Arimo Bold"/>
              </a:rPr>
              <a:t>600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8250" y="5429250"/>
            <a:ext cx="1847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102B3A"/>
                </a:solidFill>
                <a:latin typeface="Arimo Bold"/>
                <a:ea typeface="Arimo Bold"/>
                <a:cs typeface="Arimo Bold"/>
                <a:sym typeface="Arimo Bold"/>
              </a:rPr>
              <a:t>800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429000" y="2343150"/>
            <a:ext cx="2228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|E| (~25%)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29000" y="2990850"/>
            <a:ext cx="2228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1,237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429000" y="3600450"/>
            <a:ext cx="2228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4,975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29000" y="4210050"/>
            <a:ext cx="2228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19,950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429000" y="4819650"/>
            <a:ext cx="2228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44,925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429000" y="5429250"/>
            <a:ext cx="222885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79,900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000750" y="23431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(a) time (s)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000750" y="29908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0.000576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000750" y="36004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0.002259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000750" y="42100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0.009648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000750" y="48196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0.022774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000750" y="54292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0.038653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620250" y="23431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(b) time (s)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20250" y="29908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0.000320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620250" y="36004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0.000974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620250" y="42100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0.005830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620250" y="48196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0.017839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620250" y="5429250"/>
            <a:ext cx="32766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0.033799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239750" y="2343150"/>
            <a:ext cx="38100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Faster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239750" y="2990850"/>
            <a:ext cx="38100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E8C7A"/>
                </a:solidFill>
                <a:latin typeface="Arimo Bold"/>
                <a:ea typeface="Arimo Bold"/>
                <a:cs typeface="Arimo Bold"/>
                <a:sym typeface="Arimo Bold"/>
              </a:rPr>
              <a:t>(b), ~1.8x faster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239750" y="3600450"/>
            <a:ext cx="38100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E8C7A"/>
                </a:solidFill>
                <a:latin typeface="Arimo Bold"/>
                <a:ea typeface="Arimo Bold"/>
                <a:cs typeface="Arimo Bold"/>
                <a:sym typeface="Arimo Bold"/>
              </a:rPr>
              <a:t>(b), ~2.3x faster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239750" y="4210050"/>
            <a:ext cx="38100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E8C7A"/>
                </a:solidFill>
                <a:latin typeface="Arimo Bold"/>
                <a:ea typeface="Arimo Bold"/>
                <a:cs typeface="Arimo Bold"/>
                <a:sym typeface="Arimo Bold"/>
              </a:rPr>
              <a:t>(b), ~1.7x faster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239750" y="4819650"/>
            <a:ext cx="38100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E8C7A"/>
                </a:solidFill>
                <a:latin typeface="Arimo Bold"/>
                <a:ea typeface="Arimo Bold"/>
                <a:cs typeface="Arimo Bold"/>
                <a:sym typeface="Arimo Bold"/>
              </a:rPr>
              <a:t>(b), ~1.3x faster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3239750" y="5429250"/>
            <a:ext cx="38100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E8C7A"/>
                </a:solidFill>
                <a:latin typeface="Arimo Bold"/>
                <a:ea typeface="Arimo Bold"/>
                <a:cs typeface="Arimo Bold"/>
                <a:sym typeface="Arimo Bold"/>
              </a:rPr>
              <a:t>(b), ~1.1x faster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66800" y="6334125"/>
            <a:ext cx="161544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0E8C7A"/>
                </a:solidFill>
                <a:latin typeface="Arimo Bold"/>
                <a:ea typeface="Arimo Bold"/>
                <a:cs typeface="Arimo Bold"/>
                <a:sym typeface="Arimo Bold"/>
              </a:rPr>
              <a:t>Same laptop, same graphs. At 25% density (b) stays ahead, but the gap narrows as V grows.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14350"/>
            <a:ext cx="16154400" cy="1171575"/>
            <a:chOff x="0" y="0"/>
            <a:chExt cx="21539200" cy="15621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98">
                  <a:solidFill>
                    <a:srgbClr val="18B7A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13C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90550"/>
              <a:ext cx="19050000" cy="669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600" b="1">
                  <a:solidFill>
                    <a:srgbClr val="102B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Memory  /  the hard limit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524000"/>
              <a:ext cx="21539200" cy="38100"/>
              <a:chOff x="0" y="0"/>
              <a:chExt cx="21539200" cy="381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39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1539200" h="38100">
                    <a:moveTo>
                      <a:pt x="0" y="0"/>
                    </a:moveTo>
                    <a:lnTo>
                      <a:pt x="21539200" y="0"/>
                    </a:lnTo>
                    <a:lnTo>
                      <a:pt x="2153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8B7A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539200" cy="76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1066800" y="2238375"/>
            <a:ext cx="16154400" cy="2667000"/>
            <a:chOff x="0" y="0"/>
            <a:chExt cx="21539200" cy="3556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1539200" cy="3556000"/>
              <a:chOff x="0" y="0"/>
              <a:chExt cx="21539200" cy="3556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1539200" cy="3556000"/>
              </a:xfrm>
              <a:custGeom>
                <a:avLst/>
                <a:gdLst/>
                <a:ahLst/>
                <a:cxnLst/>
                <a:rect l="l" t="t" r="r" b="b"/>
                <a:pathLst>
                  <a:path w="21539200" h="3556000">
                    <a:moveTo>
                      <a:pt x="0" y="0"/>
                    </a:moveTo>
                    <a:lnTo>
                      <a:pt x="21539200" y="0"/>
                    </a:lnTo>
                    <a:lnTo>
                      <a:pt x="215392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C8DAD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21539200" cy="359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6350000" cy="965200"/>
              <a:chOff x="0" y="0"/>
              <a:chExt cx="6350000" cy="9652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350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9652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0D2A3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6350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350000" y="0"/>
              <a:ext cx="7874000" cy="965200"/>
              <a:chOff x="0" y="0"/>
              <a:chExt cx="7874000" cy="9652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8740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7874000" h="965200">
                    <a:moveTo>
                      <a:pt x="0" y="0"/>
                    </a:moveTo>
                    <a:lnTo>
                      <a:pt x="7874000" y="0"/>
                    </a:lnTo>
                    <a:lnTo>
                      <a:pt x="78740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0D2A3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78740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4224000" y="0"/>
              <a:ext cx="7315200" cy="965200"/>
              <a:chOff x="0" y="0"/>
              <a:chExt cx="7315200" cy="9652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7315200" cy="965200"/>
              </a:xfrm>
              <a:custGeom>
                <a:avLst/>
                <a:gdLst/>
                <a:ahLst/>
                <a:cxnLst/>
                <a:rect l="l" t="t" r="r" b="b"/>
                <a:pathLst>
                  <a:path w="7315200" h="96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965200"/>
                    </a:lnTo>
                    <a:lnTo>
                      <a:pt x="0" y="965200"/>
                    </a:lnTo>
                    <a:close/>
                  </a:path>
                </a:pathLst>
              </a:custGeom>
              <a:solidFill>
                <a:srgbClr val="0D2A3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7315200" cy="10033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1828800"/>
              <a:ext cx="6350000" cy="863600"/>
              <a:chOff x="0" y="0"/>
              <a:chExt cx="6350000" cy="8636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63500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8636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863600"/>
                    </a:lnTo>
                    <a:lnTo>
                      <a:pt x="0" y="863600"/>
                    </a:lnTo>
                    <a:close/>
                  </a:path>
                </a:pathLst>
              </a:custGeom>
              <a:solidFill>
                <a:srgbClr val="E7F1F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6350000" cy="901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350000" y="1828800"/>
              <a:ext cx="7874000" cy="863600"/>
              <a:chOff x="0" y="0"/>
              <a:chExt cx="7874000" cy="8636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78740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7874000" h="863600">
                    <a:moveTo>
                      <a:pt x="0" y="0"/>
                    </a:moveTo>
                    <a:lnTo>
                      <a:pt x="7874000" y="0"/>
                    </a:lnTo>
                    <a:lnTo>
                      <a:pt x="7874000" y="863600"/>
                    </a:lnTo>
                    <a:lnTo>
                      <a:pt x="0" y="863600"/>
                    </a:lnTo>
                    <a:close/>
                  </a:path>
                </a:pathLst>
              </a:custGeom>
              <a:solidFill>
                <a:srgbClr val="E7F1F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7874000" cy="901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4224000" y="1828800"/>
              <a:ext cx="7315200" cy="863600"/>
              <a:chOff x="0" y="0"/>
              <a:chExt cx="7315200" cy="8636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7315200" cy="863600"/>
              </a:xfrm>
              <a:custGeom>
                <a:avLst/>
                <a:gdLst/>
                <a:ahLst/>
                <a:cxnLst/>
                <a:rect l="l" t="t" r="r" b="b"/>
                <a:pathLst>
                  <a:path w="7315200" h="8636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863600"/>
                    </a:lnTo>
                    <a:lnTo>
                      <a:pt x="0" y="863600"/>
                    </a:lnTo>
                    <a:close/>
                  </a:path>
                </a:pathLst>
              </a:custGeom>
              <a:solidFill>
                <a:srgbClr val="E7F1F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7315200" cy="901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228600" y="263525"/>
              <a:ext cx="5892800" cy="3549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  (E = 5V)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78600" y="263525"/>
              <a:ext cx="7416800" cy="3549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Matrix entries (part a)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52600" y="263525"/>
              <a:ext cx="6858000" cy="3549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List entries (part b)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28600" y="1200150"/>
              <a:ext cx="5892800" cy="323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102B3A"/>
                  </a:solidFill>
                  <a:latin typeface="Open Sans"/>
                  <a:ea typeface="Open Sans"/>
                  <a:cs typeface="Open Sans"/>
                  <a:sym typeface="Open Sans"/>
                </a:rPr>
                <a:t>500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78600" y="1200150"/>
              <a:ext cx="7416800" cy="323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607B86"/>
                  </a:solidFill>
                  <a:latin typeface="Open Sans"/>
                  <a:ea typeface="Open Sans"/>
                  <a:cs typeface="Open Sans"/>
                  <a:sym typeface="Open Sans"/>
                </a:rPr>
                <a:t>5002 = 250,000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452600" y="1200150"/>
              <a:ext cx="6858000" cy="323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607B86"/>
                  </a:solidFill>
                  <a:latin typeface="Open Sans"/>
                  <a:ea typeface="Open Sans"/>
                  <a:cs typeface="Open Sans"/>
                  <a:sym typeface="Open Sans"/>
                </a:rPr>
                <a:t>500 + 2 (2500) = 5,500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8600" y="2063750"/>
              <a:ext cx="5892800" cy="323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102B3A"/>
                  </a:solidFill>
                  <a:latin typeface="Open Sans"/>
                  <a:ea typeface="Open Sans"/>
                  <a:cs typeface="Open Sans"/>
                  <a:sym typeface="Open Sans"/>
                </a:rPr>
                <a:t>5,000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78600" y="2063750"/>
              <a:ext cx="7416800" cy="323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607B86"/>
                  </a:solidFill>
                  <a:latin typeface="Open Sans"/>
                  <a:ea typeface="Open Sans"/>
                  <a:cs typeface="Open Sans"/>
                  <a:sym typeface="Open Sans"/>
                </a:rPr>
                <a:t>50002 = 25,000,000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4452600" y="2063750"/>
              <a:ext cx="6858000" cy="323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607B86"/>
                  </a:solidFill>
                  <a:latin typeface="Open Sans"/>
                  <a:ea typeface="Open Sans"/>
                  <a:cs typeface="Open Sans"/>
                  <a:sym typeface="Open Sans"/>
                </a:rPr>
                <a:t>5000 + 2(25 000) = 55,000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8600" y="2927350"/>
              <a:ext cx="5892800" cy="323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102B3A"/>
                  </a:solidFill>
                  <a:latin typeface="Open Sans"/>
                  <a:ea typeface="Open Sans"/>
                  <a:cs typeface="Open Sans"/>
                  <a:sym typeface="Open Sans"/>
                </a:rPr>
                <a:t>50,000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78600" y="2927350"/>
              <a:ext cx="7416800" cy="323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607B86"/>
                  </a:solidFill>
                  <a:latin typeface="Open Sans"/>
                  <a:ea typeface="Open Sans"/>
                  <a:cs typeface="Open Sans"/>
                  <a:sym typeface="Open Sans"/>
                </a:rPr>
                <a:t>500002 = 2,500,000,000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452600" y="2927350"/>
              <a:ext cx="6858000" cy="323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>
                  <a:solidFill>
                    <a:srgbClr val="607B86"/>
                  </a:solidFill>
                  <a:latin typeface="Open Sans"/>
                  <a:ea typeface="Open Sans"/>
                  <a:cs typeface="Open Sans"/>
                  <a:sym typeface="Open Sans"/>
                </a:rPr>
                <a:t>50000 + 2(250000) = 550,000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90625" y="6120765"/>
            <a:ext cx="15906750" cy="144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600" b="1">
                <a:solidFill>
                  <a:srgbClr val="18B7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 V = 500 ⟶ both run easily</a:t>
            </a:r>
          </a:p>
          <a:p>
            <a:pPr algn="l">
              <a:lnSpc>
                <a:spcPts val="3780"/>
              </a:lnSpc>
            </a:pPr>
            <a:r>
              <a:rPr lang="en-US" sz="3600" b="1">
                <a:solidFill>
                  <a:srgbClr val="18B7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 |V| = 5000 ⟶ both run</a:t>
            </a:r>
          </a:p>
          <a:p>
            <a:pPr algn="l">
              <a:lnSpc>
                <a:spcPts val="3780"/>
              </a:lnSpc>
            </a:pPr>
            <a:r>
              <a:rPr lang="en-US" sz="3600" b="1">
                <a:solidFill>
                  <a:srgbClr val="18B7A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 |V| = 50000 ⟶ matrix allocation fails but list completes in 0.90s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66800" y="9705975"/>
            <a:ext cx="476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607B8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SC2001  •  PROJECT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14350"/>
            <a:ext cx="16154400" cy="1171575"/>
            <a:chOff x="0" y="0"/>
            <a:chExt cx="21539200" cy="15621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98">
                  <a:solidFill>
                    <a:srgbClr val="18B7A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14C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90550"/>
              <a:ext cx="19050000" cy="669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6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Which one should you use?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1524000"/>
              <a:ext cx="21539200" cy="38100"/>
              <a:chOff x="0" y="0"/>
              <a:chExt cx="21539200" cy="381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39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1539200" h="38100">
                    <a:moveTo>
                      <a:pt x="0" y="0"/>
                    </a:moveTo>
                    <a:lnTo>
                      <a:pt x="21539200" y="0"/>
                    </a:lnTo>
                    <a:lnTo>
                      <a:pt x="2153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8B7A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539200" cy="76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grpSp>
        <p:nvGrpSpPr>
          <p:cNvPr id="8" name="Group 8"/>
          <p:cNvGrpSpPr/>
          <p:nvPr/>
        </p:nvGrpSpPr>
        <p:grpSpPr>
          <a:xfrm>
            <a:off x="1066800" y="2428875"/>
            <a:ext cx="7524750" cy="7073265"/>
            <a:chOff x="0" y="0"/>
            <a:chExt cx="10033000" cy="943102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0033000" cy="9431020"/>
              <a:chOff x="0" y="0"/>
              <a:chExt cx="10033000" cy="943102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033000" cy="9431020"/>
              </a:xfrm>
              <a:custGeom>
                <a:avLst/>
                <a:gdLst/>
                <a:ahLst/>
                <a:cxnLst/>
                <a:rect l="l" t="t" r="r" b="b"/>
                <a:pathLst>
                  <a:path w="10033000" h="943102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9431020"/>
                    </a:lnTo>
                    <a:lnTo>
                      <a:pt x="0" y="9431020"/>
                    </a:lnTo>
                    <a:close/>
                  </a:path>
                </a:pathLst>
              </a:custGeom>
              <a:solidFill>
                <a:srgbClr val="0D2A3D"/>
              </a:solidFill>
              <a:ln w="19050" cap="sq">
                <a:solidFill>
                  <a:srgbClr val="607B8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0033000" cy="94691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736600" y="723900"/>
              <a:ext cx="8509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 spc="252">
                  <a:solidFill>
                    <a:srgbClr val="18B7A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MATRIX + ARRAY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6600" y="1781175"/>
              <a:ext cx="8255000" cy="7473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52"/>
                </a:lnSpc>
                <a:spcBef>
                  <a:spcPct val="0"/>
                </a:spcBef>
              </a:pPr>
              <a:r>
                <a:rPr lang="en-US" sz="4050" b="1" u="none" strike="noStrik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Dense graphs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6600" y="3527425"/>
              <a:ext cx="7874000" cy="3734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35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On the same laptop, (a) wins once density passes about 33% (around 1.2–1.3× faster at |V| = 500).</a:t>
              </a:r>
            </a:p>
            <a:p>
              <a:pPr marL="0" lvl="0" indent="0" algn="l">
                <a:lnSpc>
                  <a:spcPts val="2835"/>
                </a:lnSpc>
                <a:spcBef>
                  <a:spcPct val="0"/>
                </a:spcBef>
              </a:pPr>
              <a:endParaRPr lang="en-US" sz="2100" u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l">
                <a:lnSpc>
                  <a:spcPts val="2835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For dense graphs (|E| ≈ |V|²), (a) only does O(|V|²) cheap array checks, while (b) traverses O(|E|) list entries plus heap work, worst case O(|V|² log |V|).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696450" y="2428875"/>
            <a:ext cx="7524750" cy="7073265"/>
            <a:chOff x="0" y="0"/>
            <a:chExt cx="10033000" cy="943102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0033000" cy="9431020"/>
              <a:chOff x="0" y="0"/>
              <a:chExt cx="10033000" cy="943102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0033000" cy="9431020"/>
              </a:xfrm>
              <a:custGeom>
                <a:avLst/>
                <a:gdLst/>
                <a:ahLst/>
                <a:cxnLst/>
                <a:rect l="l" t="t" r="r" b="b"/>
                <a:pathLst>
                  <a:path w="10033000" h="943102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9431020"/>
                    </a:lnTo>
                    <a:lnTo>
                      <a:pt x="0" y="9431020"/>
                    </a:lnTo>
                    <a:close/>
                  </a:path>
                </a:pathLst>
              </a:custGeom>
              <a:solidFill>
                <a:srgbClr val="18B7A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0033000" cy="94691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787400" y="723900"/>
              <a:ext cx="8255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 spc="252">
                  <a:solidFill>
                    <a:srgbClr val="071A2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LISTS + HEAP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7400" y="1781175"/>
              <a:ext cx="8255000" cy="7473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52"/>
                </a:lnSpc>
              </a:pPr>
              <a:r>
                <a:rPr lang="en-US" sz="4050" b="1">
                  <a:solidFill>
                    <a:srgbClr val="071A2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Large or sparse graphs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7400" y="3527425"/>
              <a:ext cx="7874000" cy="4674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071A2B"/>
                  </a:solidFill>
                  <a:latin typeface="Open Sans"/>
                  <a:ea typeface="Open Sans"/>
                  <a:cs typeface="Open Sans"/>
                  <a:sym typeface="Open Sans"/>
                </a:rPr>
                <a:t>For large graphs (|V| ≥ 1000 up to |V| = 50,000 and beyond), Part (b) scales linearly to |V| = 50,000 (0.90s), whereas Part (a) becomes impractical past |V| ≈ 1,000 due to quadratic memory growth Θ(|V|2).</a:t>
              </a:r>
            </a:p>
            <a:p>
              <a:pPr algn="l">
                <a:lnSpc>
                  <a:spcPts val="2835"/>
                </a:lnSpc>
              </a:pPr>
              <a:endParaRPr lang="en-US" sz="2100">
                <a:solidFill>
                  <a:srgbClr val="071A2B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071A2B"/>
                  </a:solidFill>
                  <a:latin typeface="Open Sans"/>
                  <a:ea typeface="Open Sans"/>
                  <a:cs typeface="Open Sans"/>
                  <a:sym typeface="Open Sans"/>
                </a:rPr>
                <a:t>For sparse graphs  (|E| &lt;&lt; |V|), When vertices have a limited degree (for eg. |E| ≈ O(|V|) ), Part (b) O(|E| log |V|) complexity completely outperforms the Θ(|V|2) matrix scan.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66800" y="9705975"/>
            <a:ext cx="476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9CE6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SC2001  •  PROJECT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6800" y="514350"/>
            <a:ext cx="16154400" cy="1647825"/>
            <a:chOff x="0" y="0"/>
            <a:chExt cx="21539200" cy="2197100"/>
          </a:xfrm>
        </p:grpSpPr>
        <p:sp>
          <p:nvSpPr>
            <p:cNvPr id="3" name="TextBox 3"/>
            <p:cNvSpPr txBox="1"/>
            <p:nvPr/>
          </p:nvSpPr>
          <p:spPr>
            <a:xfrm>
              <a:off x="0" y="-38100"/>
              <a:ext cx="1143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 spc="198">
                  <a:solidFill>
                    <a:srgbClr val="18B7A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14C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35990"/>
              <a:ext cx="21407120" cy="669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36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How Code Simplicity and Constant Costs Affect Measured Results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0" y="2159000"/>
              <a:ext cx="21539200" cy="38100"/>
              <a:chOff x="0" y="0"/>
              <a:chExt cx="21539200" cy="381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539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1539200" h="38100">
                    <a:moveTo>
                      <a:pt x="0" y="0"/>
                    </a:moveTo>
                    <a:lnTo>
                      <a:pt x="21539200" y="0"/>
                    </a:lnTo>
                    <a:lnTo>
                      <a:pt x="215392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8B7A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21539200" cy="762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</p:grpSp>
      <p:sp>
        <p:nvSpPr>
          <p:cNvPr id="8" name="TextBox 8"/>
          <p:cNvSpPr txBox="1"/>
          <p:nvPr/>
        </p:nvSpPr>
        <p:spPr>
          <a:xfrm>
            <a:off x="1066800" y="9705975"/>
            <a:ext cx="476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9CE6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SC2001  •  PROJECT 2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1951970" y="2912693"/>
            <a:ext cx="5269230" cy="5935249"/>
            <a:chOff x="0" y="0"/>
            <a:chExt cx="7025640" cy="7913665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7025640" cy="7913665"/>
              <a:chOff x="0" y="0"/>
              <a:chExt cx="9047533" cy="1019112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9047532" cy="10191121"/>
              </a:xfrm>
              <a:custGeom>
                <a:avLst/>
                <a:gdLst/>
                <a:ahLst/>
                <a:cxnLst/>
                <a:rect l="l" t="t" r="r" b="b"/>
                <a:pathLst>
                  <a:path w="9047532" h="10191121">
                    <a:moveTo>
                      <a:pt x="0" y="0"/>
                    </a:moveTo>
                    <a:lnTo>
                      <a:pt x="9047532" y="0"/>
                    </a:lnTo>
                    <a:lnTo>
                      <a:pt x="9047532" y="10191121"/>
                    </a:lnTo>
                    <a:lnTo>
                      <a:pt x="0" y="10191121"/>
                    </a:lnTo>
                    <a:close/>
                  </a:path>
                </a:pathLst>
              </a:custGeom>
              <a:solidFill>
                <a:srgbClr val="0D2A3D"/>
              </a:solidFill>
              <a:ln w="19050" cap="sq">
                <a:solidFill>
                  <a:srgbClr val="607B8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9047533" cy="102292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r>
                  <a:rPr lang="en-US" sz="1199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V</a:t>
                </a: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515806" y="563137"/>
              <a:ext cx="5958454" cy="3579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82"/>
                </a:lnSpc>
              </a:pPr>
              <a:r>
                <a:rPr lang="en-US" sz="1630" b="1" spc="195">
                  <a:solidFill>
                    <a:srgbClr val="18B7A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part a 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5806" y="1247533"/>
              <a:ext cx="5780590" cy="16985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02"/>
                </a:lnSpc>
              </a:pPr>
              <a:r>
                <a:rPr lang="en-US" sz="3144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contiguous array and low constant factor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5806" y="3613933"/>
              <a:ext cx="5513793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en-US" sz="3000">
                  <a:solidFill>
                    <a:srgbClr val="F4B860"/>
                  </a:solidFill>
                  <a:latin typeface="Open Sans"/>
                  <a:ea typeface="Open Sans"/>
                  <a:cs typeface="Open Sans"/>
                  <a:sym typeface="Open Sans"/>
                </a:rPr>
                <a:t>vs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352165" y="6730249"/>
            <a:ext cx="4468841" cy="275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sz="1630" b="1" spc="195">
                <a:solidFill>
                  <a:srgbClr val="18B7A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part b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52165" y="7347828"/>
            <a:ext cx="4335442" cy="85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2"/>
              </a:lnSpc>
            </a:pPr>
            <a:r>
              <a:rPr lang="en-US" sz="314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list traversal and high constant factor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28700" y="2495550"/>
            <a:ext cx="10229850" cy="6762750"/>
            <a:chOff x="0" y="0"/>
            <a:chExt cx="13639800" cy="9017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639800" cy="9017000"/>
            </a:xfrm>
            <a:custGeom>
              <a:avLst/>
              <a:gdLst/>
              <a:ahLst/>
              <a:cxnLst/>
              <a:rect l="l" t="t" r="r" b="b"/>
              <a:pathLst>
                <a:path w="13639800" h="9017000">
                  <a:moveTo>
                    <a:pt x="6054" y="0"/>
                  </a:moveTo>
                  <a:lnTo>
                    <a:pt x="13633746" y="0"/>
                  </a:lnTo>
                  <a:cubicBezTo>
                    <a:pt x="13635352" y="0"/>
                    <a:pt x="13636892" y="638"/>
                    <a:pt x="13638026" y="1773"/>
                  </a:cubicBezTo>
                  <a:cubicBezTo>
                    <a:pt x="13639163" y="2909"/>
                    <a:pt x="13639800" y="4449"/>
                    <a:pt x="13639800" y="6054"/>
                  </a:cubicBezTo>
                  <a:lnTo>
                    <a:pt x="13639800" y="9010945"/>
                  </a:lnTo>
                  <a:cubicBezTo>
                    <a:pt x="13639800" y="9012551"/>
                    <a:pt x="13639163" y="9014092"/>
                    <a:pt x="13638026" y="9015226"/>
                  </a:cubicBezTo>
                  <a:cubicBezTo>
                    <a:pt x="13636892" y="9016362"/>
                    <a:pt x="13635352" y="9017000"/>
                    <a:pt x="13633746" y="9017000"/>
                  </a:cubicBezTo>
                  <a:lnTo>
                    <a:pt x="6054" y="9017000"/>
                  </a:lnTo>
                  <a:cubicBezTo>
                    <a:pt x="4449" y="9017000"/>
                    <a:pt x="2909" y="9016362"/>
                    <a:pt x="1773" y="9015226"/>
                  </a:cubicBezTo>
                  <a:cubicBezTo>
                    <a:pt x="638" y="9014092"/>
                    <a:pt x="0" y="9012551"/>
                    <a:pt x="0" y="9010945"/>
                  </a:cubicBezTo>
                  <a:lnTo>
                    <a:pt x="0" y="6054"/>
                  </a:lnTo>
                  <a:cubicBezTo>
                    <a:pt x="0" y="4449"/>
                    <a:pt x="638" y="2909"/>
                    <a:pt x="1773" y="1773"/>
                  </a:cubicBezTo>
                  <a:cubicBezTo>
                    <a:pt x="2909" y="638"/>
                    <a:pt x="4449" y="0"/>
                    <a:pt x="605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3639800" cy="905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190750" y="8086725"/>
            <a:ext cx="8572500" cy="19050"/>
            <a:chOff x="0" y="0"/>
            <a:chExt cx="11430000" cy="25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430000" cy="25400"/>
            </a:xfrm>
            <a:custGeom>
              <a:avLst/>
              <a:gdLst/>
              <a:ahLst/>
              <a:cxnLst/>
              <a:rect l="l" t="t" r="r" b="b"/>
              <a:pathLst>
                <a:path w="11430000" h="25400">
                  <a:moveTo>
                    <a:pt x="0" y="0"/>
                  </a:moveTo>
                  <a:lnTo>
                    <a:pt x="11430000" y="0"/>
                  </a:lnTo>
                  <a:lnTo>
                    <a:pt x="1143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607B8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1430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619250" y="7915275"/>
            <a:ext cx="428625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07B86"/>
                </a:solidFill>
                <a:latin typeface="Arimo"/>
                <a:ea typeface="Arimo"/>
                <a:cs typeface="Arimo"/>
                <a:sym typeface="Arimo"/>
              </a:rPr>
              <a:t>0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2190750" y="6436042"/>
            <a:ext cx="8572500" cy="19050"/>
            <a:chOff x="0" y="0"/>
            <a:chExt cx="11430000" cy="25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430000" cy="25400"/>
            </a:xfrm>
            <a:custGeom>
              <a:avLst/>
              <a:gdLst/>
              <a:ahLst/>
              <a:cxnLst/>
              <a:rect l="l" t="t" r="r" b="b"/>
              <a:pathLst>
                <a:path w="11430000" h="25400">
                  <a:moveTo>
                    <a:pt x="0" y="0"/>
                  </a:moveTo>
                  <a:lnTo>
                    <a:pt x="11430000" y="0"/>
                  </a:lnTo>
                  <a:lnTo>
                    <a:pt x="1143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8DAD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1430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619250" y="6264593"/>
            <a:ext cx="428625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07B86"/>
                </a:solidFill>
                <a:latin typeface="Arimo"/>
                <a:ea typeface="Arimo"/>
                <a:cs typeface="Arimo"/>
                <a:sym typeface="Arimo"/>
              </a:rPr>
              <a:t>10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2190750" y="4784408"/>
            <a:ext cx="8572500" cy="19050"/>
            <a:chOff x="0" y="0"/>
            <a:chExt cx="11430000" cy="25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430000" cy="25400"/>
            </a:xfrm>
            <a:custGeom>
              <a:avLst/>
              <a:gdLst/>
              <a:ahLst/>
              <a:cxnLst/>
              <a:rect l="l" t="t" r="r" b="b"/>
              <a:pathLst>
                <a:path w="11430000" h="25400">
                  <a:moveTo>
                    <a:pt x="0" y="0"/>
                  </a:moveTo>
                  <a:lnTo>
                    <a:pt x="11430000" y="0"/>
                  </a:lnTo>
                  <a:lnTo>
                    <a:pt x="1143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8DAD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1430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619250" y="4612957"/>
            <a:ext cx="428625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07B86"/>
                </a:solidFill>
                <a:latin typeface="Arimo"/>
                <a:ea typeface="Arimo"/>
                <a:cs typeface="Arimo"/>
                <a:sym typeface="Arimo"/>
              </a:rPr>
              <a:t>20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2190750" y="3133725"/>
            <a:ext cx="8572500" cy="19050"/>
            <a:chOff x="0" y="0"/>
            <a:chExt cx="11430000" cy="25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430000" cy="25400"/>
            </a:xfrm>
            <a:custGeom>
              <a:avLst/>
              <a:gdLst/>
              <a:ahLst/>
              <a:cxnLst/>
              <a:rect l="l" t="t" r="r" b="b"/>
              <a:pathLst>
                <a:path w="11430000" h="25400">
                  <a:moveTo>
                    <a:pt x="0" y="0"/>
                  </a:moveTo>
                  <a:lnTo>
                    <a:pt x="11430000" y="0"/>
                  </a:lnTo>
                  <a:lnTo>
                    <a:pt x="1143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8DAD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1430000" cy="63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619250" y="2962275"/>
            <a:ext cx="428625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07B86"/>
                </a:solidFill>
                <a:latin typeface="Arimo"/>
                <a:ea typeface="Arimo"/>
                <a:cs typeface="Arimo"/>
                <a:sym typeface="Arimo"/>
              </a:rPr>
              <a:t>30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905000" y="8162925"/>
            <a:ext cx="5715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607B86"/>
                </a:solidFill>
                <a:latin typeface="Arimo"/>
                <a:ea typeface="Arimo"/>
                <a:cs typeface="Arimo"/>
                <a:sym typeface="Arimo"/>
              </a:rPr>
              <a:t>0%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048125" y="8162925"/>
            <a:ext cx="5715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607B86"/>
                </a:solidFill>
                <a:latin typeface="Arimo"/>
                <a:ea typeface="Arimo"/>
                <a:cs typeface="Arimo"/>
                <a:sym typeface="Arimo"/>
              </a:rPr>
              <a:t>25%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191250" y="8162925"/>
            <a:ext cx="5715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607B86"/>
                </a:solidFill>
                <a:latin typeface="Arimo"/>
                <a:ea typeface="Arimo"/>
                <a:cs typeface="Arimo"/>
                <a:sym typeface="Arimo"/>
              </a:rPr>
              <a:t>50%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34375" y="8162925"/>
            <a:ext cx="5715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607B86"/>
                </a:solidFill>
                <a:latin typeface="Arimo"/>
                <a:ea typeface="Arimo"/>
                <a:cs typeface="Arimo"/>
                <a:sym typeface="Arimo"/>
              </a:rPr>
              <a:t>75%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477500" y="8162925"/>
            <a:ext cx="5715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607B86"/>
                </a:solidFill>
                <a:latin typeface="Arimo"/>
                <a:ea typeface="Arimo"/>
                <a:cs typeface="Arimo"/>
                <a:sym typeface="Arimo"/>
              </a:rPr>
              <a:t>100%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001578" y="3143250"/>
            <a:ext cx="19050" cy="4953000"/>
            <a:chOff x="0" y="0"/>
            <a:chExt cx="25400" cy="66040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5400" cy="6604000"/>
            </a:xfrm>
            <a:custGeom>
              <a:avLst/>
              <a:gdLst/>
              <a:ahLst/>
              <a:cxnLst/>
              <a:rect l="l" t="t" r="r" b="b"/>
              <a:pathLst>
                <a:path w="25400" h="6604000">
                  <a:moveTo>
                    <a:pt x="0" y="0"/>
                  </a:moveTo>
                  <a:lnTo>
                    <a:pt x="25400" y="0"/>
                  </a:lnTo>
                  <a:lnTo>
                    <a:pt x="25400" y="6604000"/>
                  </a:lnTo>
                  <a:lnTo>
                    <a:pt x="0" y="6604000"/>
                  </a:lnTo>
                  <a:close/>
                </a:path>
              </a:pathLst>
            </a:custGeom>
            <a:solidFill>
              <a:srgbClr val="607B86">
                <a:alpha val="60000"/>
              </a:srgbClr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25400" cy="664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5125403" y="3162300"/>
            <a:ext cx="2476500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102B3A"/>
                </a:solidFill>
                <a:latin typeface="Arimo Bold"/>
                <a:ea typeface="Arimo Bold"/>
                <a:cs typeface="Arimo Bold"/>
                <a:sym typeface="Arimo Bold"/>
              </a:rPr>
              <a:t>crossover ≈ 33%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2276475" y="4622482"/>
            <a:ext cx="8486775" cy="1431608"/>
            <a:chOff x="0" y="0"/>
            <a:chExt cx="11315700" cy="190881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1315700" cy="1908810"/>
            </a:xfrm>
            <a:custGeom>
              <a:avLst/>
              <a:gdLst/>
              <a:ahLst/>
              <a:cxnLst/>
              <a:rect l="l" t="t" r="r" b="b"/>
              <a:pathLst>
                <a:path w="11315700" h="1908810">
                  <a:moveTo>
                    <a:pt x="0" y="1908810"/>
                  </a:moveTo>
                  <a:lnTo>
                    <a:pt x="1028700" y="1725930"/>
                  </a:lnTo>
                  <a:lnTo>
                    <a:pt x="2743200" y="1402080"/>
                  </a:lnTo>
                  <a:lnTo>
                    <a:pt x="5600700" y="624840"/>
                  </a:lnTo>
                  <a:lnTo>
                    <a:pt x="8458200" y="407670"/>
                  </a:lnTo>
                  <a:lnTo>
                    <a:pt x="10172700" y="233680"/>
                  </a:lnTo>
                  <a:lnTo>
                    <a:pt x="11315700" y="0"/>
                  </a:lnTo>
                </a:path>
              </a:pathLst>
            </a:custGeom>
            <a:ln w="57150" cap="sq">
              <a:solidFill>
                <a:srgbClr val="E8A33D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11315700" cy="19469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2276475" y="3836670"/>
            <a:ext cx="8486775" cy="4054792"/>
            <a:chOff x="0" y="0"/>
            <a:chExt cx="11315700" cy="540639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1315700" cy="5406390"/>
            </a:xfrm>
            <a:custGeom>
              <a:avLst/>
              <a:gdLst/>
              <a:ahLst/>
              <a:cxnLst/>
              <a:rect l="l" t="t" r="r" b="b"/>
              <a:pathLst>
                <a:path w="11315700" h="5406390">
                  <a:moveTo>
                    <a:pt x="0" y="5406390"/>
                  </a:moveTo>
                  <a:lnTo>
                    <a:pt x="1028700" y="4593590"/>
                  </a:lnTo>
                  <a:lnTo>
                    <a:pt x="2743200" y="2788920"/>
                  </a:lnTo>
                  <a:lnTo>
                    <a:pt x="5600700" y="939800"/>
                  </a:lnTo>
                  <a:lnTo>
                    <a:pt x="8458200" y="342900"/>
                  </a:lnTo>
                  <a:lnTo>
                    <a:pt x="10172700" y="198120"/>
                  </a:lnTo>
                  <a:lnTo>
                    <a:pt x="11315700" y="0"/>
                  </a:lnTo>
                </a:path>
              </a:pathLst>
            </a:custGeom>
            <a:ln w="57150" cap="sq">
              <a:solidFill>
                <a:srgbClr val="18B7A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11315700" cy="5444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200275" y="5977890"/>
            <a:ext cx="152400" cy="152400"/>
            <a:chOff x="0" y="0"/>
            <a:chExt cx="203200" cy="2032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E8A33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2971800" y="5840730"/>
            <a:ext cx="152400" cy="152400"/>
            <a:chOff x="0" y="0"/>
            <a:chExt cx="203200" cy="2032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E8A33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4257675" y="5597842"/>
            <a:ext cx="152400" cy="152400"/>
            <a:chOff x="0" y="0"/>
            <a:chExt cx="203200" cy="2032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E8A33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400800" y="5014912"/>
            <a:ext cx="152400" cy="152400"/>
            <a:chOff x="0" y="0"/>
            <a:chExt cx="203200" cy="2032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E8A33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543925" y="4852035"/>
            <a:ext cx="152400" cy="152400"/>
            <a:chOff x="0" y="0"/>
            <a:chExt cx="203200" cy="2032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E8A33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9829800" y="4721542"/>
            <a:ext cx="152400" cy="152400"/>
            <a:chOff x="0" y="0"/>
            <a:chExt cx="203200" cy="2032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E8A33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0687050" y="4546282"/>
            <a:ext cx="152400" cy="152400"/>
            <a:chOff x="0" y="0"/>
            <a:chExt cx="203200" cy="2032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E8A33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2200275" y="7815262"/>
            <a:ext cx="152400" cy="152400"/>
            <a:chOff x="0" y="0"/>
            <a:chExt cx="203200" cy="2032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18B7A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2971800" y="7205662"/>
            <a:ext cx="152400" cy="152400"/>
            <a:chOff x="0" y="0"/>
            <a:chExt cx="203200" cy="2032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18B7A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4257675" y="5852160"/>
            <a:ext cx="152400" cy="152400"/>
            <a:chOff x="0" y="0"/>
            <a:chExt cx="203200" cy="2032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18B7A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400800" y="4465320"/>
            <a:ext cx="152400" cy="152400"/>
            <a:chOff x="0" y="0"/>
            <a:chExt cx="203200" cy="2032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18B7A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543925" y="4017645"/>
            <a:ext cx="152400" cy="152400"/>
            <a:chOff x="0" y="0"/>
            <a:chExt cx="203200" cy="20320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18B7A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9829800" y="3909060"/>
            <a:ext cx="152400" cy="152400"/>
            <a:chOff x="0" y="0"/>
            <a:chExt cx="203200" cy="20320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18B7A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0687050" y="3760470"/>
            <a:ext cx="152400" cy="152400"/>
            <a:chOff x="0" y="0"/>
            <a:chExt cx="203200" cy="20320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101600" y="0"/>
                  </a:moveTo>
                  <a:cubicBezTo>
                    <a:pt x="157712" y="0"/>
                    <a:pt x="203200" y="45488"/>
                    <a:pt x="203200" y="101600"/>
                  </a:cubicBezTo>
                  <a:cubicBezTo>
                    <a:pt x="203200" y="157712"/>
                    <a:pt x="157712" y="203200"/>
                    <a:pt x="101600" y="203200"/>
                  </a:cubicBezTo>
                  <a:cubicBezTo>
                    <a:pt x="45488" y="203200"/>
                    <a:pt x="0" y="157712"/>
                    <a:pt x="0" y="101600"/>
                  </a:cubicBezTo>
                  <a:cubicBezTo>
                    <a:pt x="0" y="45488"/>
                    <a:pt x="45488" y="0"/>
                    <a:pt x="101600" y="0"/>
                  </a:cubicBezTo>
                  <a:close/>
                </a:path>
              </a:pathLst>
            </a:custGeom>
            <a:solidFill>
              <a:srgbClr val="18B7A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0" y="-38100"/>
              <a:ext cx="203200" cy="24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4" name="TextBox 94"/>
          <p:cNvSpPr txBox="1"/>
          <p:nvPr/>
        </p:nvSpPr>
        <p:spPr>
          <a:xfrm>
            <a:off x="1428750" y="2609850"/>
            <a:ext cx="5715000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102B3A"/>
                </a:solidFill>
                <a:latin typeface="Arimo Bold"/>
                <a:ea typeface="Arimo Bold"/>
                <a:cs typeface="Arimo Bold"/>
                <a:sym typeface="Arimo Bold"/>
              </a:rPr>
              <a:t>Time (ms), V = 500, same laptop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524500" y="8515350"/>
            <a:ext cx="1905000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102B3A"/>
                </a:solidFill>
                <a:latin typeface="Arimo"/>
                <a:ea typeface="Arimo"/>
                <a:cs typeface="Arimo"/>
                <a:sym typeface="Arimo"/>
              </a:rPr>
              <a:t>Graph density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8191500" y="7277100"/>
            <a:ext cx="26670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B57514"/>
                </a:solidFill>
                <a:latin typeface="Arimo Bold"/>
                <a:ea typeface="Arimo Bold"/>
                <a:cs typeface="Arimo Bold"/>
                <a:sym typeface="Arimo Bold"/>
              </a:rPr>
              <a:t>● (a) Matrix + array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191500" y="6848475"/>
            <a:ext cx="26670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E8C7A"/>
                </a:solidFill>
                <a:latin typeface="Arimo Bold"/>
                <a:ea typeface="Arimo Bold"/>
                <a:cs typeface="Arimo Bold"/>
                <a:sym typeface="Arimo Bold"/>
              </a:rPr>
              <a:t>● (b) Lists + min-heap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2341" y="2450757"/>
            <a:ext cx="10365827" cy="1838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52"/>
              </a:lnSpc>
            </a:pPr>
            <a:r>
              <a:rPr lang="en-US" sz="13383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4418828"/>
            <a:ext cx="5812824" cy="180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3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Gupta Dhruv </a:t>
            </a:r>
          </a:p>
          <a:p>
            <a:pPr algn="l">
              <a:lnSpc>
                <a:spcPts val="4859"/>
              </a:lnSpc>
            </a:pPr>
            <a:r>
              <a:rPr lang="en-US" sz="3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Gajulapalli Anish Reddy Koh Jin En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5049500" y="0"/>
            <a:ext cx="3238500" cy="10287000"/>
            <a:chOff x="0" y="0"/>
            <a:chExt cx="4318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18000" cy="13716000"/>
            </a:xfrm>
            <a:custGeom>
              <a:avLst/>
              <a:gdLst/>
              <a:ahLst/>
              <a:cxnLst/>
              <a:rect l="l" t="t" r="r" b="b"/>
              <a:pathLst>
                <a:path w="4318000" h="13716000">
                  <a:moveTo>
                    <a:pt x="0" y="0"/>
                  </a:moveTo>
                  <a:lnTo>
                    <a:pt x="4318000" y="0"/>
                  </a:lnTo>
                  <a:lnTo>
                    <a:pt x="4318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B7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318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66800" y="9705975"/>
            <a:ext cx="476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9CE6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SC2001  •  PROJECT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1803</Words>
  <Application>Microsoft Office PowerPoint</Application>
  <PresentationFormat>Custom</PresentationFormat>
  <Paragraphs>300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Arimo</vt:lpstr>
      <vt:lpstr>Arimo Bold</vt:lpstr>
      <vt:lpstr>Calibri</vt:lpstr>
      <vt:lpstr>Open Sans Bold</vt:lpstr>
      <vt:lpstr>Montserrat Bold</vt:lpstr>
      <vt:lpstr>IBM Plex Mono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Dijkstra’s Algorithm</dc:title>
  <cp:lastModifiedBy>#GAJULAPALLI ANISH REDDY#</cp:lastModifiedBy>
  <cp:revision>2</cp:revision>
  <dcterms:created xsi:type="dcterms:W3CDTF">2006-08-16T00:00:00Z</dcterms:created>
  <dcterms:modified xsi:type="dcterms:W3CDTF">2026-10-07T20:34:03Z</dcterms:modified>
  <dc:identifier>DAHXUNrK2HI</dc:identifier>
</cp:coreProperties>
</file>