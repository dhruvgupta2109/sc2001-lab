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97"/>
    <p:restoredTop sz="94610"/>
  </p:normalViewPr>
  <p:slideViewPr>
    <p:cSldViewPr snapToGrid="0" snapToObjects="1">
      <p:cViewPr varScale="1">
        <p:scale>
          <a:sx n="124" d="100"/>
          <a:sy n="124" d="100"/>
        </p:scale>
        <p:origin x="200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6640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6400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091672" y="6400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090404" y="197510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3D5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31520" y="210312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 of Merge Sort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Insertion Sort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7947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SC2001 Algorithm Design and Analysis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6035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Gupta Dhruv   ·   Gajulapalli Anish Reddy   ·   Koh Jin En</a:t>
            </a:r>
            <a:endParaRPr lang="en-US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AADA6D-590C-D77B-6623-1C412C6190F1}"/>
              </a:ext>
            </a:extLst>
          </p:cNvPr>
          <p:cNvSpPr txBox="1"/>
          <p:nvPr/>
        </p:nvSpPr>
        <p:spPr>
          <a:xfrm>
            <a:off x="649327" y="1773572"/>
            <a:ext cx="25459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Lab1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(a): The Hybrid Algorithm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486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sort recurses all the way down to subarrays of size 1 — at very small sizes, function-call and merge overhead dominates the actual sorting work.</a:t>
            </a:r>
            <a:endParaRPr lang="en-US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 sort has near-zero overhead per element, and is efficient exactly where merge sort is wasteful: small arrays.</a:t>
            </a:r>
            <a:endParaRPr lang="en-US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S: once a subarray's size falls to S or below, switch from merge sort to insertion sort instead of recursing further.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7334719" y="980156"/>
            <a:ext cx="2377440" cy="621792"/>
          </a:xfrm>
          <a:prstGeom prst="roundRect">
            <a:avLst>
              <a:gd name="adj" fmla="val 11765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273074" y="928785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34719" y="1894556"/>
            <a:ext cx="1828800" cy="621792"/>
          </a:xfrm>
          <a:prstGeom prst="roundRect">
            <a:avLst>
              <a:gd name="adj" fmla="val 11765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273074" y="1843185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/ 2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34719" y="2808956"/>
            <a:ext cx="3108960" cy="621792"/>
          </a:xfrm>
          <a:prstGeom prst="roundRect">
            <a:avLst>
              <a:gd name="adj" fmla="val 11765"/>
            </a:avLst>
          </a:prstGeom>
          <a:solidFill>
            <a:srgbClr val="3D5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273074" y="2757585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/ 4  (size ≤ S)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34719" y="3723356"/>
            <a:ext cx="3566160" cy="621792"/>
          </a:xfrm>
          <a:prstGeom prst="roundRect">
            <a:avLst>
              <a:gd name="adj" fmla="val 1176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273074" y="3671985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insertion_sort()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89204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822960" y="50749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hybrid_sort(L, left, right, S):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size ≤ S:  insertion_sort(L)     </a:t>
            </a:r>
          </a:p>
          <a:p>
            <a:pPr marL="0" indent="0">
              <a:buNone/>
            </a:pPr>
            <a:r>
              <a:rPr lang="en-US" sz="13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  split, hybrid_sort() on both halves, then merge()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(b): Generating Input Data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383280" cy="2011680"/>
          </a:xfrm>
          <a:prstGeom prst="roundRect">
            <a:avLst>
              <a:gd name="adj" fmla="val 4545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48640" y="18745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 → 10,000,000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8346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sizes tested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251960" y="1554480"/>
            <a:ext cx="3383280" cy="2011680"/>
          </a:xfrm>
          <a:prstGeom prst="roundRect">
            <a:avLst>
              <a:gd name="adj" fmla="val 454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4251960" y="18745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[ 1, 1,000,000 ]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4251960" y="28346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integer range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955280" y="1554480"/>
            <a:ext cx="3383280" cy="2011680"/>
          </a:xfrm>
          <a:prstGeom prst="roundRect">
            <a:avLst>
              <a:gd name="adj" fmla="val 4545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955280" y="18745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7955280" y="28346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random seed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58914" y="4069080"/>
            <a:ext cx="1018785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array reused across every S value tested at a given n — isolates S as the only variable changing between runs.</a:t>
            </a:r>
            <a:endParaRPr lang="en-US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comparisons are counted directly inside insertion_sort() and merge() as the algorithm runs.</a:t>
            </a:r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 is asserted against Python's sorted() on every single run — a wrong result fails loudly rather than silently producing bad data.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(c)(i): Comparisons vs. Input Size 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fixed at 10  —  n from 1,000 to 10,000,000</a:t>
            </a:r>
            <a:endParaRPr lang="en-US" sz="1300" dirty="0"/>
          </a:p>
        </p:txBody>
      </p:sp>
      <p:pic>
        <p:nvPicPr>
          <p:cNvPr id="4" name="Image 0" descr="comparisons_vs_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6309360" cy="450799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040880" y="845820"/>
            <a:ext cx="4572000" cy="1051560"/>
          </a:xfrm>
          <a:prstGeom prst="roundRect">
            <a:avLst>
              <a:gd name="adj" fmla="val 6957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7223760" y="84582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T(n,S)  ≈  n · log₂(n / S)  +  n · S / 4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949440" y="2107588"/>
            <a:ext cx="4572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cost ≈ n·log₂(n/S): log₂(n/S) halving levels, each costing ~n comparisons total across all merges at that level.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 cost ≈ n·S/4: ~S²/4 average comparisons per block of size S, times n/S blocks.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 fixed, the nS/4 term is just a constant multiple of n — so growth is still O(n log n), same as plain merge sort.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Empirically confirmed: measured comparisons track the theoretical curve almost exactly across all 4 orders of magnitude tested.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(c)(ii): Comparisons vs. Threshold 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fixed at 1,000,000  —  S from 2 to 500</a:t>
            </a:r>
            <a:endParaRPr lang="en-US" sz="1300" dirty="0"/>
          </a:p>
        </p:txBody>
      </p:sp>
      <p:pic>
        <p:nvPicPr>
          <p:cNvPr id="4" name="Image 0" descr="comparisons_vs_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6309360" cy="450799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040880" y="1371600"/>
            <a:ext cx="45720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formula, n fixed: the log term shrinks very slowly as S grows, while nS/4 grows linearly — so nS/4 dominates once S is large enough.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theory: comparisons rise close to linearly with S past roughly S = 20–50.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finding beyond the formula: several neighbouring S values give IDENTICAL comparison counts — S = 8, 10, and 13 all tie; likewise S = 16/20/24, S = 32/55, S = 64/100, and S = 150/200.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noise — hybrid_sort's recursive halving fixes actual subarray sizes in advance. S only changes behavior when it crosses one of those halving boundaries, making the true curve a step function.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(c)(iii): Finding the Optimal 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search across 7 sizes (10k – 10M) × up to 14 values of S, repeated 2–5 times for noise reduction</a:t>
            </a:r>
            <a:endParaRPr lang="en-US" sz="1300" dirty="0"/>
          </a:p>
        </p:txBody>
      </p:sp>
      <p:pic>
        <p:nvPicPr>
          <p:cNvPr id="4" name="Image 0" descr="optimal_s_spl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11247120" cy="35204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07492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777240" y="518464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fewest comparisons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545896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= 2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606247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220,099,259 comparisons at n = 10,000,000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00800" y="507492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6629400" y="518464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fastest CPU time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629400" y="545896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= 16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6629400" y="606247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17.01s (best of repeats) at n = 10,000,000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(d): Hybrid vs. Original Merge Sort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10,000,000  —  Hybrid uses S = 16, the time-optimal value from part (c)(iii)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48640" y="192024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226,422,209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0175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— Comparisons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29000" y="160020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3429000" y="192024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220,099,110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30175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Sort — Comparisons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60020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309360" y="192024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16.96s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30175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— CPU Time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89720" y="160020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9189720" y="192024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19.03s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9189720" y="30175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Sort — CPU Time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11064240" cy="2148840"/>
          </a:xfrm>
          <a:prstGeom prst="roundRect">
            <a:avLst>
              <a:gd name="adj" fmla="val 4255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822960" y="416052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counterintuitive result:</a:t>
            </a:r>
            <a:endParaRPr lang="en-US" dirty="0"/>
          </a:p>
          <a:p>
            <a:pPr marL="0" indent="0">
              <a:spcAft>
                <a:spcPts val="800"/>
              </a:spcAft>
              <a:buNone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sort makes 6,323,099 MORE comparisons than plain merge sort — yet finishes 2.07s faster (10.9% less CPU time).</a:t>
            </a:r>
            <a:endParaRPr lang="en-US" dirty="0"/>
          </a:p>
          <a:p>
            <a:pPr marL="0" indent="0">
              <a:spcAft>
                <a:spcPts val="800"/>
              </a:spcAft>
              <a:buNone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comparisons are not the only cost. Plain merge sort recurses all the way to size-1 subarrays, paying function-call and array-slicing overhead at every level. Insertion sort's extra comparisons at S=16 are individually cheaper operations — no recursive calls, no slicing — so more of them still finishes faster in wall-clock/CPU time.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37360"/>
            <a:ext cx="10515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sort's comparison count matches its theoretical model, n·log₂(n/S) + n·S/4, almost exactly across 4 orders of magnitude.</a:t>
            </a:r>
            <a:endParaRPr lang="en-US" sz="17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"Optimal S" is metric-dependent: S=2 minimizes comparisons, but S=16 minimizes actual CPU time on our machine (S=10, 13, and 16 are a near-exact tie) — fewer comparisons doesn't automatically mean faster.</a:t>
            </a:r>
            <a:endParaRPr lang="en-US" sz="17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n=10,000,000, hybrid sort beats plain merge sort on time (10.9% faster) despite doing more comparisons — recursion and function-call overhead are real costs that comparison-counting alone misses.</a:t>
            </a:r>
            <a:endParaRPr lang="en-US" sz="17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implication: when picking a threshold S, measure wall-clock/CPU time, not just comparisons — they can disagree.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61264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905</Words>
  <Application>Microsoft Macintosh PowerPoint</Application>
  <PresentationFormat>Widescreen</PresentationFormat>
  <Paragraphs>74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Deepak Gupta</cp:lastModifiedBy>
  <cp:revision>2</cp:revision>
  <dcterms:created xsi:type="dcterms:W3CDTF">2026-09-16T13:19:30Z</dcterms:created>
  <dcterms:modified xsi:type="dcterms:W3CDTF">2026-09-16T14:41:33Z</dcterms:modified>
</cp:coreProperties>
</file>